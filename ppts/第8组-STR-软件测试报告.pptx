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350" r:id="rId4"/>
    <p:sldId id="262" r:id="rId5"/>
    <p:sldId id="346" r:id="rId6"/>
    <p:sldId id="347" r:id="rId7"/>
    <p:sldId id="348" r:id="rId8"/>
    <p:sldId id="349" r:id="rId9"/>
    <p:sldId id="353" r:id="rId10"/>
    <p:sldId id="354" r:id="rId11"/>
    <p:sldId id="352" r:id="rId12"/>
    <p:sldId id="342" r:id="rId13"/>
    <p:sldId id="265" r:id="rId14"/>
    <p:sldId id="351" r:id="rId15"/>
    <p:sldId id="355" r:id="rId16"/>
    <p:sldId id="317" r:id="rId17"/>
    <p:sldId id="268" r:id="rId18"/>
    <p:sldId id="27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AE60"/>
    <a:srgbClr val="009E47"/>
    <a:srgbClr val="E7F0FD"/>
    <a:srgbClr val="F5F7FA"/>
    <a:srgbClr val="C2E9FB"/>
    <a:srgbClr val="C3CFE2"/>
    <a:srgbClr val="ACCBEE"/>
    <a:srgbClr val="A1C4FD"/>
    <a:srgbClr val="3A7BD5"/>
    <a:srgbClr val="00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5244" autoAdjust="0"/>
  </p:normalViewPr>
  <p:slideViewPr>
    <p:cSldViewPr snapToGrid="0">
      <p:cViewPr varScale="1">
        <p:scale>
          <a:sx n="86" d="100"/>
          <a:sy n="86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image" Target="../media/image6.png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20065301">
            <a:off x="-984084" y="1561854"/>
            <a:ext cx="12653143" cy="11672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20065301">
            <a:off x="-1599367" y="-1919503"/>
            <a:ext cx="10719676" cy="42447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532260" y="3753894"/>
            <a:ext cx="61093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码垛机器人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en-US" altLang="zh-CN" sz="4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SnakeBite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633410" y="4530275"/>
            <a:ext cx="636264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532260" y="4558836"/>
            <a:ext cx="576874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软件测试报告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389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zh-CN" altLang="en-US" sz="4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32"/>
          <p:cNvSpPr/>
          <p:nvPr/>
        </p:nvSpPr>
        <p:spPr bwMode="auto">
          <a:xfrm>
            <a:off x="245110" y="1713230"/>
            <a:ext cx="7467600" cy="4736465"/>
          </a:xfrm>
          <a:prstGeom prst="roundRect">
            <a:avLst>
              <a:gd name="adj" fmla="val 7842"/>
            </a:avLst>
          </a:prstGeom>
          <a:solidFill>
            <a:srgbClr val="006BBC">
              <a:alpha val="10196"/>
            </a:srgbClr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: 圆角 33"/>
          <p:cNvSpPr/>
          <p:nvPr/>
        </p:nvSpPr>
        <p:spPr bwMode="auto">
          <a:xfrm>
            <a:off x="1809750" y="1442085"/>
            <a:ext cx="4338320" cy="468630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t" anchorCtr="1"/>
          <a:lstStyle/>
          <a:p>
            <a:pPr algn="ctr">
              <a:lnSpc>
                <a:spcPts val="32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用例 1：正常导航成功路径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20805" y="2003007"/>
          <a:ext cx="7115908" cy="4349115"/>
        </p:xfrm>
        <a:graphic>
          <a:graphicData uri="http://schemas.openxmlformats.org/drawingml/2006/table">
            <a:tbl>
              <a:tblPr/>
              <a:tblGrid>
                <a:gridCol w="2437715"/>
                <a:gridCol w="4678193"/>
              </a:tblGrid>
              <a:tr h="4105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测试用例项</a:t>
                      </a:r>
                      <a:endParaRPr lang="zh-CN" sz="1200" kern="100" dirty="0"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描述</a:t>
                      </a:r>
                      <a:endParaRPr lang="zh-CN" sz="1200" kern="100"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70281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测试用例编号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SNAKEBITE-ROS-NAV-01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380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被测单元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navigate_serve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2418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优先级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P0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089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覆盖路径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a-b-c-d-e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实际输入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NavigateGoal(pos=(1.0, 2.0, 0.0))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标点在已知地图可达区域内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实际输出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feedback 逐步递增至 100%，result=“success”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实际行为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机器人成功到达目标点，位置偏差 17cm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实际评价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None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完全符合预期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9600" y="295759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单元白盒测试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及覆盖率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3420" y="704850"/>
            <a:ext cx="4271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SNAKEBITE-ROS-NAV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路径覆盖示例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7985" y="82550"/>
            <a:ext cx="4184015" cy="4112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32"/>
          <p:cNvSpPr/>
          <p:nvPr/>
        </p:nvSpPr>
        <p:spPr bwMode="auto">
          <a:xfrm>
            <a:off x="245110" y="1713230"/>
            <a:ext cx="7467600" cy="4736465"/>
          </a:xfrm>
          <a:prstGeom prst="roundRect">
            <a:avLst>
              <a:gd name="adj" fmla="val 7842"/>
            </a:avLst>
          </a:prstGeom>
          <a:solidFill>
            <a:srgbClr val="006BBC">
              <a:alpha val="10196"/>
            </a:srgbClr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: 圆角 33"/>
          <p:cNvSpPr/>
          <p:nvPr/>
        </p:nvSpPr>
        <p:spPr bwMode="auto">
          <a:xfrm>
            <a:off x="1486535" y="1442085"/>
            <a:ext cx="4985385" cy="468630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t" anchorCtr="1"/>
          <a:lstStyle/>
          <a:p>
            <a:pPr algn="ctr">
              <a:lnSpc>
                <a:spcPts val="32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用例 2：动态障碍触发重规划后成功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20805" y="2003007"/>
          <a:ext cx="7115908" cy="4349115"/>
        </p:xfrm>
        <a:graphic>
          <a:graphicData uri="http://schemas.openxmlformats.org/drawingml/2006/table">
            <a:tbl>
              <a:tblPr/>
              <a:tblGrid>
                <a:gridCol w="2437715"/>
                <a:gridCol w="4678193"/>
              </a:tblGrid>
              <a:tr h="4105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测试用例项</a:t>
                      </a:r>
                      <a:endParaRPr lang="zh-CN" sz="1200" kern="100" dirty="0"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描述</a:t>
                      </a:r>
                      <a:endParaRPr lang="zh-CN" sz="1200" kern="100"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70281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测试用例编号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SNAKEBITE-ROS-NAV-02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380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被测单元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simple_goal 障碍检测回调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2418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优先级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P1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089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覆盖路径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a-b-c-f-g-c-d-e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实际输入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导航路径中放置障碍物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实际输出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检测到障碍物时 cur_state=“barrier”，机器人减速等待；移除后重新规划路径继续导航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实际行为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障碍物检测响应 0.8s，重新规划成功到达目标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实际评价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完全符合预期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93420" y="704850"/>
            <a:ext cx="4271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SNAKEBITE-ROS-NAV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路径覆盖示例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0695" y="119380"/>
            <a:ext cx="4057015" cy="40093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09600" y="295759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单元白盒测试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及覆盖率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32"/>
          <p:cNvSpPr/>
          <p:nvPr/>
        </p:nvSpPr>
        <p:spPr bwMode="auto">
          <a:xfrm>
            <a:off x="245110" y="1713230"/>
            <a:ext cx="7467600" cy="4544060"/>
          </a:xfrm>
          <a:prstGeom prst="roundRect">
            <a:avLst>
              <a:gd name="adj" fmla="val 7842"/>
            </a:avLst>
          </a:prstGeom>
          <a:solidFill>
            <a:srgbClr val="006BBC">
              <a:alpha val="10196"/>
            </a:srgbClr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: 圆角 33"/>
          <p:cNvSpPr/>
          <p:nvPr/>
        </p:nvSpPr>
        <p:spPr bwMode="auto">
          <a:xfrm>
            <a:off x="1911350" y="1442085"/>
            <a:ext cx="3913505" cy="468630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t" anchorCtr="1"/>
          <a:lstStyle/>
          <a:p>
            <a:pPr algn="ctr">
              <a:lnSpc>
                <a:spcPts val="32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用例 3：导航过程中取消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20805" y="2003007"/>
          <a:ext cx="7115908" cy="4349115"/>
        </p:xfrm>
        <a:graphic>
          <a:graphicData uri="http://schemas.openxmlformats.org/drawingml/2006/table">
            <a:tbl>
              <a:tblPr/>
              <a:tblGrid>
                <a:gridCol w="2437715"/>
                <a:gridCol w="4678193"/>
              </a:tblGrid>
              <a:tr h="4105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测试用例项</a:t>
                      </a:r>
                      <a:endParaRPr lang="zh-CN" sz="1200" kern="100" dirty="0"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描述</a:t>
                      </a:r>
                      <a:endParaRPr lang="zh-CN" sz="1200" kern="100"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70281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测试用例编号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SNAKEBITE-ROS-NAV-03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380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被测单元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navigate_serve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2418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优先级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P1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089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覆盖路径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a-b-c-h-i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实际输入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可达 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NavigateGoal；</a:t>
                      </a: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导航过程中发送 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cancel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实际输出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当前 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move_base goal </a:t>
                      </a: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被取消，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result="cancel"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实际行为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机器人停止执行当前导航任务，导航节点清理状态并回到可接收新目标状态</a:t>
                      </a:r>
                      <a:endParaRPr lang="zh-CN" altLang="en-US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实际评价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完全符合预期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93420" y="704850"/>
            <a:ext cx="4271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SNAKEBITE-ROS-NAV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路径覆盖示例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2425" y="102870"/>
            <a:ext cx="4219575" cy="42360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09600" y="295759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单元白盒测试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及覆盖率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32"/>
          <p:cNvSpPr/>
          <p:nvPr/>
        </p:nvSpPr>
        <p:spPr bwMode="auto">
          <a:xfrm>
            <a:off x="245110" y="1713230"/>
            <a:ext cx="7467600" cy="4928870"/>
          </a:xfrm>
          <a:prstGeom prst="roundRect">
            <a:avLst>
              <a:gd name="adj" fmla="val 7842"/>
            </a:avLst>
          </a:prstGeom>
          <a:solidFill>
            <a:srgbClr val="006BBC">
              <a:alpha val="10196"/>
            </a:srgbClr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: 圆角 33"/>
          <p:cNvSpPr/>
          <p:nvPr/>
        </p:nvSpPr>
        <p:spPr bwMode="auto">
          <a:xfrm>
            <a:off x="1585595" y="1442085"/>
            <a:ext cx="4520565" cy="468630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t" anchorCtr="1"/>
          <a:lstStyle/>
          <a:p>
            <a:pPr algn="ctr">
              <a:lnSpc>
                <a:spcPts val="32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用例 4：规划或执行失败路径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20805" y="2003007"/>
          <a:ext cx="7115908" cy="4349115"/>
        </p:xfrm>
        <a:graphic>
          <a:graphicData uri="http://schemas.openxmlformats.org/drawingml/2006/table">
            <a:tbl>
              <a:tblPr/>
              <a:tblGrid>
                <a:gridCol w="2437715"/>
                <a:gridCol w="4678193"/>
              </a:tblGrid>
              <a:tr h="4105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测试用例项</a:t>
                      </a:r>
                      <a:endParaRPr lang="zh-CN" sz="1200" kern="100" dirty="0"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描述</a:t>
                      </a:r>
                      <a:endParaRPr lang="zh-CN" sz="1200" kern="100"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70281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测试用例编号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SNAKEBITE-ROS-NAV-04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380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被测单元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navigate_serve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2418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优先级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P1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7089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覆盖路径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a-b-j-k </a:t>
                      </a: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或 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a-b-c-j-k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实际输入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不可达 `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NavigateGoal`，</a:t>
                      </a: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例如地图未知区、障碍物外侧或被障碍完全包围的位置</a:t>
                      </a:r>
                      <a:endParaRPr lang="zh-CN" altLang="en-US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实际输出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move_base </a:t>
                      </a: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返回 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ABORTED / REJECTED </a:t>
                      </a: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后，/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navigation/navigate/result </a:t>
                      </a: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返回 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result="fail"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实际行为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清理当前导航目标和中间状态，并恢复到 </a:t>
                      </a: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IDLE </a:t>
                      </a:r>
                      <a:r>
                        <a:rPr lang="zh-CN" altLang="en-US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状态，机器人未继续执行危险运动。</a:t>
                      </a:r>
                      <a:endParaRPr lang="zh-CN" altLang="en-US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649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实际评价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en-US" altLang="zh-CN" sz="1200" kern="10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完全符合预期</a:t>
                      </a:r>
                      <a:endParaRPr lang="en-US" altLang="zh-CN" sz="1200" kern="10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93420" y="704850"/>
            <a:ext cx="4271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SNAKEBITE-ROS-NAV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路径覆盖示例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6555" y="40005"/>
            <a:ext cx="4195445" cy="4275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09600" y="295759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单元白盒测试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及覆盖率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389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集成测试</a:t>
            </a:r>
            <a:endParaRPr lang="zh-CN" altLang="en-US" sz="4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" y="295759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047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性能测试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32"/>
          <p:cNvSpPr/>
          <p:nvPr>
            <p:custDataLst>
              <p:tags r:id="rId1"/>
            </p:custDataLst>
          </p:nvPr>
        </p:nvSpPr>
        <p:spPr bwMode="auto">
          <a:xfrm>
            <a:off x="257175" y="1889125"/>
            <a:ext cx="5701030" cy="3640455"/>
          </a:xfrm>
          <a:prstGeom prst="roundRect">
            <a:avLst>
              <a:gd name="adj" fmla="val 7842"/>
            </a:avLst>
          </a:prstGeom>
          <a:solidFill>
            <a:srgbClr val="00B0F0">
              <a:alpha val="10196"/>
            </a:srgb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: 圆角 33"/>
          <p:cNvSpPr/>
          <p:nvPr>
            <p:custDataLst>
              <p:tags r:id="rId2"/>
            </p:custDataLst>
          </p:nvPr>
        </p:nvSpPr>
        <p:spPr bwMode="auto">
          <a:xfrm>
            <a:off x="1471930" y="1654810"/>
            <a:ext cx="3271520" cy="46863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t" anchorCtr="1"/>
          <a:lstStyle/>
          <a:p>
            <a:pPr marL="0" algn="just">
              <a:lnSpc>
                <a:spcPct val="150000"/>
              </a:lnSpc>
              <a:spcBef>
                <a:spcPts val="100"/>
              </a:spcBef>
              <a:buClrTx/>
              <a:buSzTx/>
              <a:buFontTx/>
            </a:pPr>
            <a:r>
              <a:rPr lang="en-GB" altLang="zh-CN" sz="2000" b="1" kern="100" dirty="0">
                <a:latin typeface="Times New Roman" panose="02020603050405020304" pitchFamily="18" charset="0"/>
                <a:ea typeface="Microsoft YaHei UI" panose="020B0503020204020204" pitchFamily="34" charset="-122"/>
                <a:sym typeface="+mn-ea"/>
              </a:rPr>
              <a:t>SNAKEBITE-</a:t>
            </a:r>
            <a:r>
              <a:rPr lang="en-US" altLang="en-GB" sz="2000" b="1" kern="100" dirty="0">
                <a:latin typeface="Times New Roman" panose="02020603050405020304" pitchFamily="18" charset="0"/>
                <a:ea typeface="Microsoft YaHei UI" panose="020B0503020204020204" pitchFamily="34" charset="-122"/>
                <a:sym typeface="+mn-ea"/>
              </a:rPr>
              <a:t>INT</a:t>
            </a:r>
            <a:r>
              <a:rPr lang="en-GB" altLang="zh-CN" sz="2000" b="1" kern="100" dirty="0">
                <a:latin typeface="Times New Roman" panose="02020603050405020304" pitchFamily="18" charset="0"/>
                <a:ea typeface="Microsoft YaHei UI" panose="020B0503020204020204" pitchFamily="34" charset="-122"/>
                <a:sym typeface="+mn-ea"/>
              </a:rPr>
              <a:t>-MAP-0</a:t>
            </a:r>
            <a:r>
              <a:rPr lang="en-US" altLang="en-GB" sz="2000" b="1" kern="100" dirty="0">
                <a:latin typeface="Times New Roman" panose="02020603050405020304" pitchFamily="18" charset="0"/>
                <a:ea typeface="Microsoft YaHei UI" panose="020B0503020204020204" pitchFamily="34" charset="-122"/>
                <a:sym typeface="+mn-ea"/>
              </a:rPr>
              <a:t>2</a:t>
            </a:r>
            <a:endParaRPr lang="en-US" altLang="en-GB" sz="2000" b="1" kern="100" dirty="0">
              <a:latin typeface="Times New Roman" panose="02020603050405020304" pitchFamily="18" charset="0"/>
              <a:ea typeface="Microsoft YaHei UI" panose="020B0503020204020204" pitchFamily="34" charset="-122"/>
              <a:sym typeface="+mn-ea"/>
            </a:endParaRPr>
          </a:p>
        </p:txBody>
      </p:sp>
      <p:sp>
        <p:nvSpPr>
          <p:cNvPr id="11" name="矩形: 圆角 32"/>
          <p:cNvSpPr/>
          <p:nvPr>
            <p:custDataLst>
              <p:tags r:id="rId3"/>
            </p:custDataLst>
          </p:nvPr>
        </p:nvSpPr>
        <p:spPr bwMode="auto">
          <a:xfrm>
            <a:off x="6233795" y="1861820"/>
            <a:ext cx="5701030" cy="3667760"/>
          </a:xfrm>
          <a:prstGeom prst="roundRect">
            <a:avLst>
              <a:gd name="adj" fmla="val 7842"/>
            </a:avLst>
          </a:prstGeom>
          <a:solidFill>
            <a:srgbClr val="00B0F0">
              <a:alpha val="10196"/>
            </a:srgb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: 圆角 33"/>
          <p:cNvSpPr/>
          <p:nvPr>
            <p:custDataLst>
              <p:tags r:id="rId4"/>
            </p:custDataLst>
          </p:nvPr>
        </p:nvSpPr>
        <p:spPr bwMode="auto">
          <a:xfrm>
            <a:off x="7210425" y="1654810"/>
            <a:ext cx="3854450" cy="46863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t" anchorCtr="1"/>
          <a:lstStyle/>
          <a:p>
            <a:pPr marL="0" algn="just">
              <a:lnSpc>
                <a:spcPct val="150000"/>
              </a:lnSpc>
              <a:spcBef>
                <a:spcPts val="100"/>
              </a:spcBef>
              <a:buClrTx/>
              <a:buSzTx/>
              <a:buFontTx/>
            </a:pPr>
            <a:r>
              <a:rPr lang="en-GB" altLang="zh-CN" sz="2000" b="1" kern="100" dirty="0">
                <a:latin typeface="Times New Roman" panose="02020603050405020304" pitchFamily="18" charset="0"/>
                <a:ea typeface="Microsoft YaHei UI" panose="020B0503020204020204" pitchFamily="34" charset="-122"/>
                <a:sym typeface="+mn-ea"/>
              </a:rPr>
              <a:t>SNAKEBITE-</a:t>
            </a:r>
            <a:r>
              <a:rPr lang="en-GB" altLang="zh-CN" sz="2000" b="1" kern="100" dirty="0">
                <a:latin typeface="Times New Roman" panose="02020603050405020304" pitchFamily="18" charset="0"/>
                <a:ea typeface="Microsoft YaHei UI" panose="020B0503020204020204" pitchFamily="34" charset="-122"/>
                <a:sym typeface="+mn-ea"/>
              </a:rPr>
              <a:t>INT-NAV-01</a:t>
            </a:r>
            <a:endParaRPr lang="zh-CN" sz="2000" kern="100" dirty="0">
              <a:effectLst/>
              <a:latin typeface="Times New Roman" panose="02020603050405020304" pitchFamily="18" charset="0"/>
              <a:ea typeface="Microsoft YaHei UI" panose="020B0503020204020204" pitchFamily="34" charset="-122"/>
            </a:endParaRPr>
          </a:p>
          <a:p>
            <a:pPr marL="0" algn="just">
              <a:lnSpc>
                <a:spcPct val="150000"/>
              </a:lnSpc>
              <a:spcBef>
                <a:spcPts val="100"/>
              </a:spcBef>
              <a:buClrTx/>
              <a:buSzTx/>
              <a:buFontTx/>
            </a:pPr>
            <a:endParaRPr lang="en-GB" altLang="zh-CN" sz="2000" b="1" kern="100" dirty="0">
              <a:latin typeface="Times New Roman" panose="02020603050405020304" pitchFamily="18" charset="0"/>
              <a:ea typeface="Microsoft YaHei UI" panose="020B0503020204020204" pitchFamily="3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400050" y="2200275"/>
          <a:ext cx="5415280" cy="3017520"/>
        </p:xfrm>
        <a:graphic>
          <a:graphicData uri="http://schemas.openxmlformats.org/drawingml/2006/table">
            <a:tbl>
              <a:tblPr/>
              <a:tblGrid>
                <a:gridCol w="1624330"/>
                <a:gridCol w="3790950"/>
              </a:tblGrid>
              <a:tr h="34925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Microsoft YaHei UI" panose="020B0503020204020204" pitchFamily="34" charset="-122"/>
                        </a:rPr>
                        <a:t>测试用例项</a:t>
                      </a:r>
                      <a:endParaRPr lang="zh-CN" sz="1200" b="1" kern="10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Microsoft YaHei UI" panose="020B0503020204020204" pitchFamily="34" charset="-122"/>
                        </a:rPr>
                        <a:t>描述</a:t>
                      </a:r>
                      <a:endParaRPr lang="zh-CN" sz="1200" b="1" kern="10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32740"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测试用例编号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SNAKEBITE-INT-MAP-02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010"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优先级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P1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375"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实际输入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切换到”手动建图”模式，手柄控制机器人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8020"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测试步骤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1. 前端切换到”手动建图”模式；2. 用手柄驱动机器人巡视环境；3. 观察地图实时构建；4. 点击”保存地图”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地图随机器人移动实时更新，保存成功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375"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实际行为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建图完整，保存后可被 AMCL 加载使用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010"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实际评价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完全符合预期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6430010" y="2200275"/>
          <a:ext cx="5415280" cy="3017520"/>
        </p:xfrm>
        <a:graphic>
          <a:graphicData uri="http://schemas.openxmlformats.org/drawingml/2006/table">
            <a:tbl>
              <a:tblPr/>
              <a:tblGrid>
                <a:gridCol w="1624330"/>
                <a:gridCol w="3790950"/>
              </a:tblGrid>
              <a:tr h="33528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Microsoft YaHei UI" panose="020B0503020204020204" pitchFamily="34" charset="-122"/>
                        </a:rPr>
                        <a:t>测试用例项</a:t>
                      </a:r>
                      <a:endParaRPr lang="zh-CN" sz="1200" b="1" kern="10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Microsoft YaHei UI" panose="020B0503020204020204" pitchFamily="34" charset="-122"/>
                        </a:rPr>
                        <a:t>描述</a:t>
                      </a:r>
                      <a:endParaRPr lang="zh-CN" sz="1200" b="1" kern="10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测试用例编号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SNAKEBITE-INT-NAV-01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优先级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P0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实际输入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通过 Pending 面板指定目标点 (1.5, 0, 0)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056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测试步骤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1. 在 3D 地图上点选目标桌位置；2. 点击导航；3. 观察机器人路径规划和执行；4. 记录到达精度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全局路径规划成功，机器人沿路径行驶，到达目标点</a:t>
                      </a: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附近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实际行为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导航过程发生偏移，无法达到理想精度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实际评价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altLang="en-US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不</a:t>
                      </a: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符合预期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  <p:bldP spid="11" grpId="0" bldLvl="0" animBg="1"/>
      <p:bldP spid="1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389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系统测试</a:t>
            </a:r>
            <a:endParaRPr lang="zh-CN" altLang="en-US" sz="4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" y="295759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047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性能测试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32"/>
          <p:cNvSpPr/>
          <p:nvPr/>
        </p:nvSpPr>
        <p:spPr bwMode="auto">
          <a:xfrm>
            <a:off x="257175" y="1889125"/>
            <a:ext cx="5701030" cy="3506470"/>
          </a:xfrm>
          <a:prstGeom prst="roundRect">
            <a:avLst>
              <a:gd name="adj" fmla="val 7842"/>
            </a:avLst>
          </a:prstGeom>
          <a:solidFill>
            <a:srgbClr val="00B0F0">
              <a:alpha val="10196"/>
            </a:srgb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: 圆角 33"/>
          <p:cNvSpPr/>
          <p:nvPr/>
        </p:nvSpPr>
        <p:spPr bwMode="auto">
          <a:xfrm>
            <a:off x="1471930" y="1654810"/>
            <a:ext cx="3271520" cy="46863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t" anchorCtr="1"/>
          <a:lstStyle/>
          <a:p>
            <a:pPr marL="0" algn="just">
              <a:lnSpc>
                <a:spcPct val="150000"/>
              </a:lnSpc>
              <a:spcBef>
                <a:spcPts val="100"/>
              </a:spcBef>
              <a:buClrTx/>
              <a:buSzTx/>
              <a:buFontTx/>
            </a:pPr>
            <a:r>
              <a:rPr lang="en-GB" altLang="zh-CN" sz="2000" b="1" kern="100" dirty="0">
                <a:latin typeface="Times New Roman" panose="02020603050405020304" pitchFamily="18" charset="0"/>
                <a:ea typeface="Microsoft YaHei UI" panose="020B0503020204020204" pitchFamily="34" charset="-122"/>
                <a:sym typeface="+mn-ea"/>
              </a:rPr>
              <a:t>SNAKEBITE-SYS-MAP-01</a:t>
            </a:r>
            <a:endParaRPr lang="en-GB" altLang="zh-CN" sz="2000" b="1" kern="100" dirty="0">
              <a:latin typeface="Times New Roman" panose="02020603050405020304" pitchFamily="18" charset="0"/>
              <a:ea typeface="Microsoft YaHei UI" panose="020B0503020204020204" pitchFamily="34" charset="-122"/>
            </a:endParaRPr>
          </a:p>
        </p:txBody>
      </p:sp>
      <p:sp>
        <p:nvSpPr>
          <p:cNvPr id="11" name="矩形: 圆角 32"/>
          <p:cNvSpPr/>
          <p:nvPr/>
        </p:nvSpPr>
        <p:spPr bwMode="auto">
          <a:xfrm>
            <a:off x="6233795" y="1861820"/>
            <a:ext cx="5701030" cy="3534410"/>
          </a:xfrm>
          <a:prstGeom prst="roundRect">
            <a:avLst>
              <a:gd name="adj" fmla="val 7842"/>
            </a:avLst>
          </a:prstGeom>
          <a:solidFill>
            <a:srgbClr val="00B0F0">
              <a:alpha val="10196"/>
            </a:srgb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: 圆角 33"/>
          <p:cNvSpPr/>
          <p:nvPr/>
        </p:nvSpPr>
        <p:spPr bwMode="auto">
          <a:xfrm>
            <a:off x="7210425" y="1654810"/>
            <a:ext cx="3854450" cy="46863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t" anchorCtr="1"/>
          <a:lstStyle/>
          <a:p>
            <a:pPr marL="0" algn="just">
              <a:lnSpc>
                <a:spcPct val="150000"/>
              </a:lnSpc>
              <a:spcBef>
                <a:spcPts val="100"/>
              </a:spcBef>
              <a:buClrTx/>
              <a:buSzTx/>
              <a:buFontTx/>
            </a:pPr>
            <a:r>
              <a:rPr lang="en-GB" altLang="zh-CN" sz="2000" b="1" kern="100" dirty="0">
                <a:latin typeface="Times New Roman" panose="02020603050405020304" pitchFamily="18" charset="0"/>
                <a:ea typeface="Microsoft YaHei UI" panose="020B0503020204020204" pitchFamily="34" charset="-122"/>
                <a:sym typeface="+mn-ea"/>
              </a:rPr>
              <a:t>SNAKEBITE-SYS-SAFETY-02</a:t>
            </a:r>
            <a:endParaRPr lang="en-GB" altLang="zh-CN" sz="2000" b="1" kern="100" dirty="0">
              <a:latin typeface="Times New Roman" panose="02020603050405020304" pitchFamily="18" charset="0"/>
              <a:ea typeface="Microsoft YaHei UI" panose="020B0503020204020204" pitchFamily="3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400050" y="2200275"/>
          <a:ext cx="5415280" cy="3030220"/>
        </p:xfrm>
        <a:graphic>
          <a:graphicData uri="http://schemas.openxmlformats.org/drawingml/2006/table">
            <a:tbl>
              <a:tblPr/>
              <a:tblGrid>
                <a:gridCol w="1624330"/>
                <a:gridCol w="3790950"/>
              </a:tblGrid>
              <a:tr h="28702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Microsoft YaHei UI" panose="020B0503020204020204" pitchFamily="34" charset="-122"/>
                        </a:rPr>
                        <a:t>测试用例项</a:t>
                      </a:r>
                      <a:endParaRPr lang="zh-CN" sz="1200" b="1" kern="100" dirty="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Microsoft YaHei UI" panose="020B0503020204020204" pitchFamily="34" charset="-122"/>
                        </a:rPr>
                        <a:t>描述</a:t>
                      </a:r>
                      <a:endParaRPr lang="zh-CN" sz="1200" b="1" kern="100" dirty="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测试用例编号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SNAKEBITE-SYS-MAP-01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优先级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P1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实际输入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新建未探索的仿真环境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测试步骤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1. 自动建图探索环境；2. 保存地图；3. 重启系统；4. 加载地图启动 AMCL；5. 驱动机器人验证定位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地图成功保存和加载，AMCL 定位收敛，机器人可在已建图环境中导航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实际行为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整个建图→保存→加载→定位流程无异常，定位精度  0.2m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实际评价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完全符合预期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6430010" y="2200275"/>
          <a:ext cx="5415280" cy="3017520"/>
        </p:xfrm>
        <a:graphic>
          <a:graphicData uri="http://schemas.openxmlformats.org/drawingml/2006/table">
            <a:tbl>
              <a:tblPr/>
              <a:tblGrid>
                <a:gridCol w="1624330"/>
                <a:gridCol w="3790950"/>
              </a:tblGrid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Microsoft YaHei UI" panose="020B0503020204020204" pitchFamily="34" charset="-122"/>
                        </a:rPr>
                        <a:t>测试用例项</a:t>
                      </a:r>
                      <a:endParaRPr lang="zh-CN" sz="1200" b="1" kern="10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Microsoft YaHei UI" panose="020B0503020204020204" pitchFamily="34" charset="-122"/>
                        </a:rPr>
                        <a:t>描述</a:t>
                      </a:r>
                      <a:endParaRPr lang="zh-CN" sz="1200" b="1" kern="10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测试用例编号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SNAKEBITE-SYS-SAFETY-02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优先级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P0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实际输入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码垛任务执行中，操作员点击”紧急停止”按钮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测试步骤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1. 开始码垛；2. 点击 Footer”紧急停止”按钮；3. 观察机器人停止；4. 点击”恢复”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实际输出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点击急停→机器人立即停止→按钮变为蓝色”恢复”→点击恢复→机器人重新可运动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实际行为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手动急停和自动急停（激光）共用一个 scram 通道，互不冲突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实际评价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just">
                        <a:lnSpc>
                          <a:spcPct val="150000"/>
                        </a:lnSpc>
                        <a:spcBef>
                          <a:spcPts val="100"/>
                        </a:spcBef>
                        <a:buClrTx/>
                        <a:buSzTx/>
                        <a:buFontTx/>
                      </a:pPr>
                      <a:r>
                        <a:rPr lang="zh-CN" sz="1200" kern="100" dirty="0">
                          <a:effectLst/>
                          <a:latin typeface="Times New Roman" panose="02020603050405020304" pitchFamily="18" charset="0"/>
                          <a:ea typeface="Microsoft YaHei UI" panose="020B0503020204020204" pitchFamily="34" charset="-122"/>
                        </a:rPr>
                        <a:t>完全符合预期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Microsoft YaHei UI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  <p:bldP spid="11" grpId="0" bldLvl="0" animBg="1"/>
      <p:bldP spid="1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测试结果分析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" y="295759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通过率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0479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白盒测试覆盖率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1"/>
            </p:custDataLst>
          </p:nvPr>
        </p:nvSpPr>
        <p:spPr>
          <a:xfrm>
            <a:off x="661670" y="1562735"/>
            <a:ext cx="3049905" cy="4385310"/>
          </a:xfrm>
          <a:prstGeom prst="roundRect">
            <a:avLst/>
          </a:prstGeom>
          <a:gradFill flip="none" rotWithShape="1">
            <a:gsLst>
              <a:gs pos="0">
                <a:srgbClr val="F5F7FA"/>
              </a:gs>
              <a:gs pos="100000">
                <a:srgbClr val="C2E9FB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007110" y="1704975"/>
            <a:ext cx="3235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单元测试通过率</a:t>
            </a:r>
            <a:endParaRPr lang="zh-CN" altLang="en-US" sz="2400" b="1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954832" y="4464986"/>
            <a:ext cx="229425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0" b="1">
                <a:solidFill>
                  <a:srgbClr val="009E47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86.0%</a:t>
            </a:r>
            <a:endParaRPr lang="zh-CN" altLang="en-US" sz="6000" b="1">
              <a:solidFill>
                <a:srgbClr val="009E47"/>
              </a:solidFill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905510" y="2473325"/>
            <a:ext cx="2460625" cy="15697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79个用例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62 个完全符合预期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6 个基本符合预期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1 个不符合预期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10个未测试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矩形: 圆角 4"/>
          <p:cNvSpPr/>
          <p:nvPr>
            <p:custDataLst>
              <p:tags r:id="rId5"/>
            </p:custDataLst>
          </p:nvPr>
        </p:nvSpPr>
        <p:spPr>
          <a:xfrm>
            <a:off x="4462145" y="1562735"/>
            <a:ext cx="3049905" cy="4385310"/>
          </a:xfrm>
          <a:prstGeom prst="roundRect">
            <a:avLst/>
          </a:prstGeom>
          <a:gradFill flip="none" rotWithShape="1">
            <a:gsLst>
              <a:gs pos="0">
                <a:srgbClr val="F5F7FA"/>
              </a:gs>
              <a:gs pos="100000">
                <a:srgbClr val="C2E9FB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807585" y="1704975"/>
            <a:ext cx="3235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集成测试通过率</a:t>
            </a:r>
            <a:endParaRPr lang="zh-CN" altLang="en-US" sz="2400" b="1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7"/>
            </p:custDataLst>
          </p:nvPr>
        </p:nvSpPr>
        <p:spPr>
          <a:xfrm>
            <a:off x="4755307" y="4464986"/>
            <a:ext cx="229425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0" b="1">
                <a:solidFill>
                  <a:srgbClr val="009E47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50.0%</a:t>
            </a:r>
            <a:endParaRPr lang="zh-CN" altLang="en-US" sz="6000" b="1">
              <a:solidFill>
                <a:srgbClr val="009E47"/>
              </a:solidFill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4705985" y="2473325"/>
            <a:ext cx="2460625" cy="15697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18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个用例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8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个完全符合预期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 个基本符合预期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1 个不符合预期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8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个未测试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1" name="矩形: 圆角 4"/>
          <p:cNvSpPr/>
          <p:nvPr>
            <p:custDataLst>
              <p:tags r:id="rId9"/>
            </p:custDataLst>
          </p:nvPr>
        </p:nvSpPr>
        <p:spPr>
          <a:xfrm>
            <a:off x="8364220" y="1562735"/>
            <a:ext cx="3049905" cy="4385310"/>
          </a:xfrm>
          <a:prstGeom prst="roundRect">
            <a:avLst/>
          </a:prstGeom>
          <a:gradFill flip="none" rotWithShape="1">
            <a:gsLst>
              <a:gs pos="0">
                <a:srgbClr val="F5F7FA"/>
              </a:gs>
              <a:gs pos="100000">
                <a:srgbClr val="C2E9FB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8709660" y="1704975"/>
            <a:ext cx="3235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系统测试通过率</a:t>
            </a:r>
            <a:endParaRPr lang="zh-CN" altLang="en-US" sz="2400" b="1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8657382" y="4464986"/>
            <a:ext cx="229425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0" b="1">
                <a:solidFill>
                  <a:srgbClr val="009E47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44.4</a:t>
            </a:r>
            <a:r>
              <a:rPr lang="en-US" altLang="zh-CN" sz="6000" b="1">
                <a:solidFill>
                  <a:srgbClr val="009E47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%</a:t>
            </a:r>
            <a:endParaRPr lang="zh-CN" altLang="en-US" sz="6000" b="1">
              <a:solidFill>
                <a:srgbClr val="009E47"/>
              </a:solidFill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8608060" y="2473325"/>
            <a:ext cx="2460625" cy="15697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9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个用例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3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个完全符合预期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 个基本符合预期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1 个不符合预期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3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个未测试</a:t>
            </a:r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9" grpId="0"/>
      <p:bldP spid="14" grpId="0"/>
      <p:bldP spid="25" grpId="0"/>
      <p:bldP spid="16" grpId="0" bldLvl="0" animBg="1"/>
      <p:bldP spid="17" grpId="0"/>
      <p:bldP spid="29" grpId="0"/>
      <p:bldP spid="30" grpId="0"/>
      <p:bldP spid="31" grpId="0" bldLvl="0" animBg="1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回归测试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7047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32"/>
          <p:cNvSpPr/>
          <p:nvPr/>
        </p:nvSpPr>
        <p:spPr bwMode="auto">
          <a:xfrm>
            <a:off x="2362091" y="1519820"/>
            <a:ext cx="7467818" cy="4820421"/>
          </a:xfrm>
          <a:prstGeom prst="roundRect">
            <a:avLst>
              <a:gd name="adj" fmla="val 7842"/>
            </a:avLst>
          </a:prstGeom>
          <a:solidFill>
            <a:schemeClr val="accent2">
              <a:lumMod val="75000"/>
              <a:alpha val="10196"/>
            </a:scheme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538095" y="1809115"/>
          <a:ext cx="7120890" cy="4466590"/>
        </p:xfrm>
        <a:graphic>
          <a:graphicData uri="http://schemas.openxmlformats.org/drawingml/2006/table">
            <a:tbl>
              <a:tblPr/>
              <a:tblGrid>
                <a:gridCol w="2439670"/>
                <a:gridCol w="4681220"/>
              </a:tblGrid>
              <a:tr h="480695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测试用例项</a:t>
                      </a:r>
                      <a:endParaRPr lang="zh-CN" sz="1600" b="1" kern="10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Times New Roman" panose="02020603050405020304" pitchFamily="18" charset="0"/>
                          <a:ea typeface="Microsoft YaHei UI" panose="020B0503020204020204" pitchFamily="34" charset="-122"/>
                          <a:cs typeface="宋体" panose="02010600030101010101" pitchFamily="2" charset="-122"/>
                        </a:rPr>
                        <a:t>描述</a:t>
                      </a:r>
                      <a:endParaRPr lang="zh-CN" sz="1600" b="1" kern="100">
                        <a:solidFill>
                          <a:srgbClr val="000000"/>
                        </a:solidFill>
                        <a:effectLst/>
                        <a:highlight>
                          <a:srgbClr val="D0CECE"/>
                        </a:highlight>
                        <a:latin typeface="Times New Roman" panose="02020603050405020304" pitchFamily="18" charset="0"/>
                        <a:ea typeface="Microsoft YaHei U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测试项目标识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defRPr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SNAKEBITE-ARM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出现问题的测试用例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defRPr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SNAKEBITE-ARM-06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具体问题描述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defRPr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当桌面无物体导致抓取超时（60s）后，系统仅停止抓取动作，但机械臂仍停留在前方伸出位置，未执行收回至安全高度的操作。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4015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defRPr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违反安全设计预期，存在物理安全隐患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可行的解决方案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defRPr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在超时异常处理逻辑中增加强制收回指令（发布 lift=0 且 arm_back 标志），并确保超时后无论成功失败都回到 home 姿态。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回归测试1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defRPr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全部100%成功抓取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分析1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defRPr/>
                      </a:pPr>
                      <a:r>
                        <a:rPr lang="zh-CN" altLang="en-US" sz="14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符合预期，完成回归测试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矩形: 圆角 33"/>
          <p:cNvSpPr/>
          <p:nvPr/>
        </p:nvSpPr>
        <p:spPr bwMode="auto">
          <a:xfrm>
            <a:off x="4249420" y="1248410"/>
            <a:ext cx="3693160" cy="4686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t" anchorCtr="1"/>
          <a:lstStyle/>
          <a:p>
            <a:pPr algn="ctr">
              <a:lnSpc>
                <a:spcPts val="3200"/>
              </a:lnSpc>
            </a:pPr>
            <a:r>
              <a:rPr lang="en-US" altLang="zh-CN" sz="2000" b="1" kern="100" dirty="0">
                <a:latin typeface="Times New Roman" panose="02020603050405020304" pitchFamily="18" charset="0"/>
                <a:ea typeface="Microsoft YaHei UI" panose="020B0503020204020204" pitchFamily="34" charset="-122"/>
              </a:rPr>
              <a:t>SNAKEBITE-ARM-06</a:t>
            </a:r>
            <a:endParaRPr lang="en-US" altLang="zh-CN" sz="2000" b="1" kern="100" dirty="0">
              <a:latin typeface="Times New Roman" panose="02020603050405020304" pitchFamily="18" charset="0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0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Gitlab</a:t>
            </a:r>
            <a:r>
              <a: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过程管理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513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GitLab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过程管理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分支管理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1172845"/>
            <a:ext cx="10554335" cy="5319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4605" y="0"/>
            <a:ext cx="12205970" cy="6858000"/>
          </a:xfrm>
          <a:prstGeom prst="rect">
            <a:avLst/>
          </a:prstGeom>
          <a:gradFill>
            <a:gsLst>
              <a:gs pos="0">
                <a:srgbClr val="0E60A8">
                  <a:alpha val="36000"/>
                </a:srgbClr>
              </a:gs>
              <a:gs pos="86000">
                <a:srgbClr val="0E60A8">
                  <a:alpha val="9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/>
          <p:cNvSpPr/>
          <p:nvPr/>
        </p:nvSpPr>
        <p:spPr>
          <a:xfrm>
            <a:off x="1629221" y="2614921"/>
            <a:ext cx="8729879" cy="2141291"/>
          </a:xfrm>
          <a:prstGeom prst="parallelogram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041169" y="3052561"/>
            <a:ext cx="4524346" cy="11079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平行四边形 18"/>
          <p:cNvSpPr/>
          <p:nvPr/>
        </p:nvSpPr>
        <p:spPr>
          <a:xfrm>
            <a:off x="8571865" y="4060825"/>
            <a:ext cx="1913890" cy="885825"/>
          </a:xfrm>
          <a:prstGeom prst="parallelogram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email">
            <a:duotone>
              <a:prstClr val="black"/>
              <a:srgbClr val="3BFB7B">
                <a:tint val="45000"/>
                <a:satMod val="400000"/>
              </a:srgbClr>
            </a:duotone>
            <a:grayscl/>
          </a:blip>
          <a:srcRect b="49558"/>
          <a:stretch>
            <a:fillRect/>
          </a:stretch>
        </p:blipFill>
        <p:spPr>
          <a:xfrm>
            <a:off x="3019441" y="482148"/>
            <a:ext cx="6018748" cy="2510987"/>
          </a:xfrm>
          <a:prstGeom prst="rect">
            <a:avLst/>
          </a:prstGeom>
          <a:noFill/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2" cstate="email">
            <a:duotone>
              <a:prstClr val="black"/>
              <a:srgbClr val="3BFB7B">
                <a:tint val="45000"/>
                <a:satMod val="400000"/>
              </a:srgbClr>
            </a:duotone>
            <a:grayscl/>
          </a:blip>
          <a:srcRect t="72787"/>
          <a:stretch>
            <a:fillRect/>
          </a:stretch>
        </p:blipFill>
        <p:spPr>
          <a:xfrm>
            <a:off x="2984979" y="4060997"/>
            <a:ext cx="6018748" cy="1354655"/>
          </a:xfrm>
          <a:prstGeom prst="rect">
            <a:avLst/>
          </a:prstGeom>
        </p:spPr>
      </p:pic>
      <p:sp>
        <p:nvSpPr>
          <p:cNvPr id="23" name="平行四边形 22"/>
          <p:cNvSpPr/>
          <p:nvPr/>
        </p:nvSpPr>
        <p:spPr>
          <a:xfrm>
            <a:off x="1715770" y="2500630"/>
            <a:ext cx="1913890" cy="885825"/>
          </a:xfrm>
          <a:prstGeom prst="parallelogram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4.6,&quot;left&quot;:20.25,&quot;top&quot;:130.3,&quot;width&quot;:919.5}"/>
</p:tagLst>
</file>

<file path=ppt/tags/tag2.xml><?xml version="1.0" encoding="utf-8"?>
<p:tagLst xmlns:p="http://schemas.openxmlformats.org/presentationml/2006/main">
  <p:tag name="KSO_WM_DIAGRAM_VIRTUALLY_FRAME" val="{&quot;height&quot;:294.6,&quot;left&quot;:20.25,&quot;top&quot;:130.3,&quot;width&quot;:919.5}"/>
</p:tagLst>
</file>

<file path=ppt/tags/tag3.xml><?xml version="1.0" encoding="utf-8"?>
<p:tagLst xmlns:p="http://schemas.openxmlformats.org/presentationml/2006/main">
  <p:tag name="KSO_WM_DIAGRAM_VIRTUALLY_FRAME" val="{&quot;height&quot;:294.6,&quot;left&quot;:20.25,&quot;top&quot;:130.3,&quot;width&quot;:919.5}"/>
</p:tagLst>
</file>

<file path=ppt/tags/tag4.xml><?xml version="1.0" encoding="utf-8"?>
<p:tagLst xmlns:p="http://schemas.openxmlformats.org/presentationml/2006/main">
  <p:tag name="KSO_WM_DIAGRAM_VIRTUALLY_FRAME" val="{&quot;height&quot;:294.6,&quot;left&quot;:20.25,&quot;top&quot;:130.3,&quot;width&quot;:919.5}"/>
</p:tagLst>
</file>

<file path=ppt/tags/tag5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6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7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8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9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10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11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12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13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14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15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16.xml><?xml version="1.0" encoding="utf-8"?>
<p:tagLst xmlns:p="http://schemas.openxmlformats.org/presentationml/2006/main">
  <p:tag name="KSO_WM_DIAGRAM_VIRTUALLY_FRAME" val="{&quot;height&quot;:345.3208661417323,&quot;left&quot;:36.98937007874015,&quot;top&quot;:123.02913385826771,&quot;width&quot;:903.5606299212599}"/>
</p:tagLst>
</file>

<file path=ppt/tags/tag17.xml><?xml version="1.0" encoding="utf-8"?>
<p:tagLst xmlns:p="http://schemas.openxmlformats.org/presentationml/2006/main">
  <p:tag name="KSO_WM_UNIT_PLACING_PICTURE_USER_VIEWPORT" val="{&quot;height&quot;:3954.3102362204722,&quot;width&quot;:9478.343307086614}"/>
</p:tagLst>
</file>

<file path=ppt/tags/tag18.xml><?xml version="1.0" encoding="utf-8"?>
<p:tagLst xmlns:p="http://schemas.openxmlformats.org/presentationml/2006/main">
  <p:tag name="KSO_WM_UNIT_PLACING_PICTURE_USER_VIEWPORT" val="{&quot;height&quot;:2133.314960629921,&quot;width&quot;:9478.34330708661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2381</Words>
  <Application>WPS 演示</Application>
  <PresentationFormat>宽屏</PresentationFormat>
  <Paragraphs>417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Times New Roman</vt:lpstr>
      <vt:lpstr>微软雅黑</vt:lpstr>
      <vt:lpstr>黑体</vt:lpstr>
      <vt:lpstr>Microsoft YaHei UI</vt:lpstr>
      <vt:lpstr>方正小标宋简体</vt:lpstr>
      <vt:lpstr>华文中宋</vt:lpstr>
      <vt:lpstr>等线</vt:lpstr>
      <vt:lpstr>Arial Unicode MS</vt:lpstr>
      <vt:lpstr>等线 Light</vt:lpstr>
      <vt:lpstr>Calibri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water-jet</dc:creator>
  <cp:lastModifiedBy>刘栖言</cp:lastModifiedBy>
  <cp:revision>421</cp:revision>
  <dcterms:created xsi:type="dcterms:W3CDTF">2023-05-17T11:48:00Z</dcterms:created>
  <dcterms:modified xsi:type="dcterms:W3CDTF">2026-06-09T01:11:37Z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39E8176757614D1A814E525A8B0BA610_12</vt:lpwstr>
  </property>
</Properties>
</file>