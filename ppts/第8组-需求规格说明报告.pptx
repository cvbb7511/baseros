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6" r:id="rId9"/>
    <p:sldId id="267" r:id="rId10"/>
    <p:sldId id="271" r:id="rId11"/>
    <p:sldId id="273" r:id="rId12"/>
    <p:sldId id="274" r:id="rId13"/>
    <p:sldId id="275" r:id="rId14"/>
    <p:sldId id="277" r:id="rId15"/>
    <p:sldId id="280" r:id="rId16"/>
    <p:sldId id="278" r:id="rId17"/>
    <p:sldId id="281" r:id="rId18"/>
    <p:sldId id="279" r:id="rId19"/>
    <p:sldId id="282" r:id="rId20"/>
    <p:sldId id="276" r:id="rId21"/>
    <p:sldId id="283" r:id="rId22"/>
    <p:sldId id="303" r:id="rId23"/>
    <p:sldId id="304" r:id="rId24"/>
    <p:sldId id="284" r:id="rId25"/>
    <p:sldId id="285" r:id="rId26"/>
    <p:sldId id="286" r:id="rId27"/>
    <p:sldId id="287" r:id="rId28"/>
    <p:sldId id="290" r:id="rId29"/>
    <p:sldId id="291" r:id="rId30"/>
    <p:sldId id="305" r:id="rId31"/>
    <p:sldId id="292" r:id="rId32"/>
    <p:sldId id="302" r:id="rId33"/>
    <p:sldId id="293" r:id="rId34"/>
    <p:sldId id="294" r:id="rId35"/>
    <p:sldId id="295" r:id="rId36"/>
    <p:sldId id="296" r:id="rId37"/>
    <p:sldId id="298" r:id="rId38"/>
    <p:sldId id="299" r:id="rId39"/>
    <p:sldId id="300" r:id="rId40"/>
  </p:sldIdLst>
  <p:sldSz cx="12192000" cy="6858000"/>
  <p:notesSz cx="6858000" cy="9144000"/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20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34" y="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3.xml"/><Relationship Id="rId9" Type="http://schemas.openxmlformats.org/officeDocument/2006/relationships/tags" Target="../tags/tag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tags" Target="../tags/tag42.xml"/><Relationship Id="rId3" Type="http://schemas.openxmlformats.org/officeDocument/2006/relationships/tags" Target="../tags/tag27.xml"/><Relationship Id="rId21" Type="http://schemas.openxmlformats.org/officeDocument/2006/relationships/tags" Target="../tags/tag45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tags" Target="../tags/tag44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10" Type="http://schemas.openxmlformats.org/officeDocument/2006/relationships/tags" Target="../tags/tag34.xml"/><Relationship Id="rId19" Type="http://schemas.openxmlformats.org/officeDocument/2006/relationships/tags" Target="../tags/tag43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7" Type="http://schemas.openxmlformats.org/officeDocument/2006/relationships/image" Target="../media/image6.sv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image" Target="../media/image14.png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20065301">
            <a:off x="-984084" y="1561854"/>
            <a:ext cx="12653143" cy="11672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rot="20065301">
            <a:off x="-1599367" y="-1919503"/>
            <a:ext cx="10719676" cy="42447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532260" y="3753894"/>
            <a:ext cx="27574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码垛机器人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32260" y="4616243"/>
            <a:ext cx="60324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需求规格说明书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2026.4.7</a:t>
            </a:r>
          </a:p>
          <a:p>
            <a:pPr algn="l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周二上午班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组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张永康，刘栖言，刘峻昊，俞博文，唐悦洋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5633410" y="4530275"/>
            <a:ext cx="636264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355252" y="280755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>
                <a:latin typeface="微软雅黑" panose="020B0503020204020204" charset="-122"/>
                <a:ea typeface="微软雅黑" panose="020B0503020204020204" charset="-122"/>
              </a:rPr>
              <a:t>目 录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998552" y="1050196"/>
            <a:ext cx="2194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图文框 14"/>
          <p:cNvSpPr/>
          <p:nvPr/>
        </p:nvSpPr>
        <p:spPr>
          <a:xfrm>
            <a:off x="1838871" y="4309374"/>
            <a:ext cx="700920" cy="664029"/>
          </a:xfrm>
          <a:prstGeom prst="frame">
            <a:avLst>
              <a:gd name="adj1" fmla="val 74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2752725" y="4222115"/>
            <a:ext cx="193357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宋体" panose="02010600030101010101" pitchFamily="2" charset="-122"/>
              </a:rPr>
              <a:t>非功能需求</a:t>
            </a:r>
          </a:p>
        </p:txBody>
      </p:sp>
      <p:sp>
        <p:nvSpPr>
          <p:cNvPr id="19" name="图文框 18"/>
          <p:cNvSpPr/>
          <p:nvPr/>
        </p:nvSpPr>
        <p:spPr>
          <a:xfrm>
            <a:off x="7712792" y="4309374"/>
            <a:ext cx="700920" cy="664029"/>
          </a:xfrm>
          <a:prstGeom prst="frame">
            <a:avLst>
              <a:gd name="adj1" fmla="val 74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8626475" y="4222115"/>
            <a:ext cx="225361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700" b="1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宋体" panose="02010600030101010101" pitchFamily="2" charset="-122"/>
              </a:rPr>
              <a:t>用户界面需求</a:t>
            </a:r>
          </a:p>
        </p:txBody>
      </p:sp>
      <p:sp>
        <p:nvSpPr>
          <p:cNvPr id="22" name="图文框 21"/>
          <p:cNvSpPr/>
          <p:nvPr/>
        </p:nvSpPr>
        <p:spPr>
          <a:xfrm>
            <a:off x="1838871" y="5568224"/>
            <a:ext cx="700920" cy="664029"/>
          </a:xfrm>
          <a:prstGeom prst="frame">
            <a:avLst>
              <a:gd name="adj1" fmla="val 74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2752725" y="5481320"/>
            <a:ext cx="260413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宋体" panose="02010600030101010101" pitchFamily="2" charset="-122"/>
              </a:rPr>
              <a:t>运行与开发环境</a:t>
            </a:r>
          </a:p>
        </p:txBody>
      </p:sp>
      <p:sp>
        <p:nvSpPr>
          <p:cNvPr id="25" name="图文框 24"/>
          <p:cNvSpPr/>
          <p:nvPr/>
        </p:nvSpPr>
        <p:spPr>
          <a:xfrm>
            <a:off x="7712792" y="5568224"/>
            <a:ext cx="700920" cy="664029"/>
          </a:xfrm>
          <a:prstGeom prst="frame">
            <a:avLst>
              <a:gd name="adj1" fmla="val 74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8626475" y="5481320"/>
            <a:ext cx="262509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700" b="1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宋体" panose="02010600030101010101" pitchFamily="2" charset="-122"/>
              </a:rPr>
              <a:t>gitlab</a:t>
            </a:r>
            <a:r>
              <a:rPr lang="zh-CN" altLang="en-US" sz="2700" b="1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宋体" panose="02010600030101010101" pitchFamily="2" charset="-122"/>
              </a:rPr>
              <a:t>过程管理</a:t>
            </a:r>
          </a:p>
        </p:txBody>
      </p:sp>
      <p:sp>
        <p:nvSpPr>
          <p:cNvPr id="12" name="图文框 11"/>
          <p:cNvSpPr/>
          <p:nvPr>
            <p:custDataLst>
              <p:tags r:id="rId1"/>
            </p:custDataLst>
          </p:nvPr>
        </p:nvSpPr>
        <p:spPr>
          <a:xfrm>
            <a:off x="1843316" y="1843669"/>
            <a:ext cx="700920" cy="664029"/>
          </a:xfrm>
          <a:prstGeom prst="frame">
            <a:avLst>
              <a:gd name="adj1" fmla="val 74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sz="320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2757309" y="1756632"/>
            <a:ext cx="1562100" cy="506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700" b="1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宋体" panose="02010600030101010101" pitchFamily="2" charset="-122"/>
              </a:rPr>
              <a:t>范围分析</a:t>
            </a:r>
          </a:p>
        </p:txBody>
      </p:sp>
      <p:sp>
        <p:nvSpPr>
          <p:cNvPr id="14" name="图文框 13"/>
          <p:cNvSpPr/>
          <p:nvPr>
            <p:custDataLst>
              <p:tags r:id="rId3"/>
            </p:custDataLst>
          </p:nvPr>
        </p:nvSpPr>
        <p:spPr>
          <a:xfrm>
            <a:off x="7717237" y="1843669"/>
            <a:ext cx="700920" cy="664029"/>
          </a:xfrm>
          <a:prstGeom prst="frame">
            <a:avLst>
              <a:gd name="adj1" fmla="val 74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320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8631230" y="1756632"/>
            <a:ext cx="1562100" cy="506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700" b="1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宋体" panose="02010600030101010101" pitchFamily="2" charset="-122"/>
              </a:rPr>
              <a:t>业务需求</a:t>
            </a:r>
          </a:p>
        </p:txBody>
      </p:sp>
      <p:sp>
        <p:nvSpPr>
          <p:cNvPr id="28" name="图文框 27"/>
          <p:cNvSpPr/>
          <p:nvPr>
            <p:custDataLst>
              <p:tags r:id="rId5"/>
            </p:custDataLst>
          </p:nvPr>
        </p:nvSpPr>
        <p:spPr>
          <a:xfrm>
            <a:off x="1843316" y="3102519"/>
            <a:ext cx="700920" cy="664029"/>
          </a:xfrm>
          <a:prstGeom prst="frame">
            <a:avLst>
              <a:gd name="adj1" fmla="val 74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altLang="en-US" sz="320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6"/>
            </p:custDataLst>
          </p:nvPr>
        </p:nvSpPr>
        <p:spPr>
          <a:xfrm>
            <a:off x="2757309" y="3015482"/>
            <a:ext cx="1562100" cy="506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宋体" panose="02010600030101010101" pitchFamily="2" charset="-122"/>
              </a:rPr>
              <a:t>数据需求</a:t>
            </a:r>
          </a:p>
        </p:txBody>
      </p:sp>
      <p:sp>
        <p:nvSpPr>
          <p:cNvPr id="30" name="图文框 29"/>
          <p:cNvSpPr/>
          <p:nvPr>
            <p:custDataLst>
              <p:tags r:id="rId7"/>
            </p:custDataLst>
          </p:nvPr>
        </p:nvSpPr>
        <p:spPr>
          <a:xfrm>
            <a:off x="7717237" y="3102519"/>
            <a:ext cx="700920" cy="664029"/>
          </a:xfrm>
          <a:prstGeom prst="frame">
            <a:avLst>
              <a:gd name="adj1" fmla="val 74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altLang="en-US" sz="320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8"/>
            </p:custDataLst>
          </p:nvPr>
        </p:nvSpPr>
        <p:spPr>
          <a:xfrm>
            <a:off x="8631230" y="3015482"/>
            <a:ext cx="1562100" cy="506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宋体" panose="02010600030101010101" pitchFamily="2" charset="-122"/>
              </a:rPr>
              <a:t>功能需求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dirty="0"/>
          </a:p>
        </p:txBody>
      </p:sp>
      <p:sp>
        <p:nvSpPr>
          <p:cNvPr id="8" name="平行四边形 7"/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 dirty="0">
                <a:solidFill>
                  <a:srgbClr val="0E60A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</a:p>
        </p:txBody>
      </p:sp>
      <p:sp>
        <p:nvSpPr>
          <p:cNvPr id="11" name="矩形 10"/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范围分析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范围分析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项目背景</a:t>
            </a: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933077" y="1480974"/>
            <a:ext cx="47400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70000"/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劳动强度大，人工无法长时间持续进行工作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SzPct val="70000"/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人工分拣与码垛的效率难以匹配需求</a:t>
            </a:r>
          </a:p>
        </p:txBody>
      </p:sp>
      <p:sp>
        <p:nvSpPr>
          <p:cNvPr id="3" name="TextBox 5"/>
          <p:cNvSpPr txBox="1"/>
          <p:nvPr>
            <p:custDataLst>
              <p:tags r:id="rId2"/>
            </p:custDataLst>
          </p:nvPr>
        </p:nvSpPr>
        <p:spPr>
          <a:xfrm>
            <a:off x="2189480" y="1728470"/>
            <a:ext cx="272224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仓库的效率需求增大</a:t>
            </a:r>
          </a:p>
        </p:txBody>
      </p:sp>
      <p:sp>
        <p:nvSpPr>
          <p:cNvPr id="5" name="Freeform 8"/>
          <p:cNvSpPr/>
          <p:nvPr>
            <p:custDataLst>
              <p:tags r:id="rId3"/>
            </p:custDataLst>
          </p:nvPr>
        </p:nvSpPr>
        <p:spPr>
          <a:xfrm>
            <a:off x="1883433" y="1772388"/>
            <a:ext cx="269875" cy="31273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274" h="317">
                <a:moveTo>
                  <a:pt x="274" y="158"/>
                </a:moveTo>
                <a:lnTo>
                  <a:pt x="137" y="238"/>
                </a:lnTo>
                <a:lnTo>
                  <a:pt x="0" y="317"/>
                </a:lnTo>
                <a:lnTo>
                  <a:pt x="0" y="158"/>
                </a:lnTo>
                <a:lnTo>
                  <a:pt x="0" y="0"/>
                </a:lnTo>
                <a:lnTo>
                  <a:pt x="137" y="79"/>
                </a:lnTo>
                <a:lnTo>
                  <a:pt x="274" y="158"/>
                </a:ln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5"/>
          <p:cNvSpPr txBox="1"/>
          <p:nvPr>
            <p:custDataLst>
              <p:tags r:id="rId4"/>
            </p:custDataLst>
          </p:nvPr>
        </p:nvSpPr>
        <p:spPr>
          <a:xfrm>
            <a:off x="2189797" y="3295482"/>
            <a:ext cx="2962919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仓库的稳定性要求提升</a:t>
            </a:r>
          </a:p>
        </p:txBody>
      </p:sp>
      <p:sp>
        <p:nvSpPr>
          <p:cNvPr id="12" name="Freeform 8"/>
          <p:cNvSpPr/>
          <p:nvPr>
            <p:custDataLst>
              <p:tags r:id="rId5"/>
            </p:custDataLst>
          </p:nvPr>
        </p:nvSpPr>
        <p:spPr>
          <a:xfrm>
            <a:off x="1883434" y="3339169"/>
            <a:ext cx="269875" cy="31273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274" h="317">
                <a:moveTo>
                  <a:pt x="274" y="158"/>
                </a:moveTo>
                <a:lnTo>
                  <a:pt x="137" y="238"/>
                </a:lnTo>
                <a:lnTo>
                  <a:pt x="0" y="317"/>
                </a:lnTo>
                <a:lnTo>
                  <a:pt x="0" y="158"/>
                </a:lnTo>
                <a:lnTo>
                  <a:pt x="0" y="0"/>
                </a:lnTo>
                <a:lnTo>
                  <a:pt x="137" y="79"/>
                </a:lnTo>
                <a:lnTo>
                  <a:pt x="274" y="158"/>
                </a:ln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4933077" y="3022984"/>
            <a:ext cx="515846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70000"/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传统人工分拣准确度随工作时间降低</a:t>
            </a:r>
          </a:p>
          <a:p>
            <a:pPr marL="285750" indent="-285750">
              <a:lnSpc>
                <a:spcPct val="150000"/>
              </a:lnSpc>
              <a:buSzPct val="70000"/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人工分拣的追溯难度大，耗时多</a:t>
            </a:r>
          </a:p>
        </p:txBody>
      </p:sp>
      <p:sp>
        <p:nvSpPr>
          <p:cNvPr id="17" name="TextBox 5"/>
          <p:cNvSpPr txBox="1"/>
          <p:nvPr>
            <p:custDataLst>
              <p:tags r:id="rId7"/>
            </p:custDataLst>
          </p:nvPr>
        </p:nvSpPr>
        <p:spPr>
          <a:xfrm>
            <a:off x="2189797" y="4892163"/>
            <a:ext cx="2962919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仓库的运营成本难降低</a:t>
            </a:r>
          </a:p>
        </p:txBody>
      </p:sp>
      <p:sp>
        <p:nvSpPr>
          <p:cNvPr id="18" name="Freeform 8"/>
          <p:cNvSpPr/>
          <p:nvPr>
            <p:custDataLst>
              <p:tags r:id="rId8"/>
            </p:custDataLst>
          </p:nvPr>
        </p:nvSpPr>
        <p:spPr>
          <a:xfrm>
            <a:off x="1883434" y="4935850"/>
            <a:ext cx="269875" cy="31273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274" h="317">
                <a:moveTo>
                  <a:pt x="274" y="158"/>
                </a:moveTo>
                <a:lnTo>
                  <a:pt x="137" y="238"/>
                </a:lnTo>
                <a:lnTo>
                  <a:pt x="0" y="317"/>
                </a:lnTo>
                <a:lnTo>
                  <a:pt x="0" y="158"/>
                </a:lnTo>
                <a:lnTo>
                  <a:pt x="0" y="0"/>
                </a:lnTo>
                <a:lnTo>
                  <a:pt x="137" y="79"/>
                </a:lnTo>
                <a:lnTo>
                  <a:pt x="274" y="158"/>
                </a:ln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4933077" y="4498646"/>
            <a:ext cx="515846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70000"/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人力成本上升，仓库运营成本难以降低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SzPct val="70000"/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配套的管理成本进一步增加仓库运营成本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范围分析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主要功能</a:t>
            </a:r>
          </a:p>
        </p:txBody>
      </p:sp>
      <p:sp>
        <p:nvSpPr>
          <p:cNvPr id="21" name="矩形 20"/>
          <p:cNvSpPr/>
          <p:nvPr/>
        </p:nvSpPr>
        <p:spPr bwMode="auto">
          <a:xfrm>
            <a:off x="765643" y="1451489"/>
            <a:ext cx="5174299" cy="4525800"/>
          </a:xfrm>
          <a:prstGeom prst="rect">
            <a:avLst/>
          </a:prstGeom>
          <a:solidFill>
            <a:srgbClr val="00B0F0">
              <a:alpha val="1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5"/>
          <p:cNvSpPr/>
          <p:nvPr/>
        </p:nvSpPr>
        <p:spPr>
          <a:xfrm>
            <a:off x="1921662" y="1297102"/>
            <a:ext cx="2862262" cy="491692"/>
          </a:xfrm>
          <a:prstGeom prst="rect">
            <a:avLst/>
          </a:prstGeom>
          <a:solidFill>
            <a:srgbClr val="113E6A"/>
          </a:solidFill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码垛规划与执行</a:t>
            </a:r>
          </a:p>
        </p:txBody>
      </p:sp>
      <p:sp>
        <p:nvSpPr>
          <p:cNvPr id="27" name="矩形 26"/>
          <p:cNvSpPr/>
          <p:nvPr>
            <p:custDataLst>
              <p:tags r:id="rId1"/>
            </p:custDataLst>
          </p:nvPr>
        </p:nvSpPr>
        <p:spPr bwMode="auto">
          <a:xfrm>
            <a:off x="948408" y="2037346"/>
            <a:ext cx="4874130" cy="399717"/>
          </a:xfrm>
          <a:prstGeom prst="rect">
            <a:avLst/>
          </a:prstGeom>
          <a:solidFill>
            <a:schemeClr val="accent1">
              <a:alpha val="10196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</a:rPr>
              <a:t>货物识别与分类</a:t>
            </a:r>
          </a:p>
        </p:txBody>
      </p:sp>
      <p:sp>
        <p:nvSpPr>
          <p:cNvPr id="29" name="矩形 28"/>
          <p:cNvSpPr/>
          <p:nvPr>
            <p:custDataLst>
              <p:tags r:id="rId2"/>
            </p:custDataLst>
          </p:nvPr>
        </p:nvSpPr>
        <p:spPr bwMode="auto">
          <a:xfrm>
            <a:off x="950247" y="3337786"/>
            <a:ext cx="4874130" cy="399717"/>
          </a:xfrm>
          <a:prstGeom prst="rect">
            <a:avLst/>
          </a:prstGeom>
          <a:solidFill>
            <a:schemeClr val="accent1">
              <a:alpha val="10196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</a:rPr>
              <a:t>物体定位与体积计算</a:t>
            </a:r>
          </a:p>
        </p:txBody>
      </p:sp>
      <p:sp>
        <p:nvSpPr>
          <p:cNvPr id="30" name="矩形 29"/>
          <p:cNvSpPr/>
          <p:nvPr>
            <p:custDataLst>
              <p:tags r:id="rId3"/>
            </p:custDataLst>
          </p:nvPr>
        </p:nvSpPr>
        <p:spPr bwMode="auto">
          <a:xfrm>
            <a:off x="948408" y="4575556"/>
            <a:ext cx="4874130" cy="399717"/>
          </a:xfrm>
          <a:prstGeom prst="rect">
            <a:avLst/>
          </a:prstGeom>
          <a:solidFill>
            <a:schemeClr val="accent1">
              <a:alpha val="10196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抓取与搬运控制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4"/>
            </p:custDataLst>
          </p:nvPr>
        </p:nvSpPr>
        <p:spPr>
          <a:xfrm>
            <a:off x="859155" y="2388235"/>
            <a:ext cx="50634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/>
              <a:t>识别至少两类货物</a:t>
            </a:r>
          </a:p>
          <a:p>
            <a:pPr algn="ctr">
              <a:lnSpc>
                <a:spcPct val="150000"/>
              </a:lnSpc>
            </a:pPr>
            <a:r>
              <a:rPr lang="zh-CN" altLang="en-US" sz="1600" dirty="0"/>
              <a:t>（如本色纸盒与彩色纸箱）</a:t>
            </a:r>
          </a:p>
        </p:txBody>
      </p:sp>
      <p:sp>
        <p:nvSpPr>
          <p:cNvPr id="32" name="文本框 31"/>
          <p:cNvSpPr txBox="1"/>
          <p:nvPr>
            <p:custDataLst>
              <p:tags r:id="rId5"/>
            </p:custDataLst>
          </p:nvPr>
        </p:nvSpPr>
        <p:spPr>
          <a:xfrm>
            <a:off x="1048465" y="3704778"/>
            <a:ext cx="48741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kern="100" dirty="0"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获取货物三维位置</a:t>
            </a:r>
          </a:p>
          <a:p>
            <a:pPr algn="ctr">
              <a:lnSpc>
                <a:spcPct val="150000"/>
              </a:lnSpc>
            </a:pPr>
            <a:r>
              <a:rPr lang="zh-CN" altLang="en-US" sz="1600" kern="100" dirty="0"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并计算货物体积</a:t>
            </a:r>
          </a:p>
        </p:txBody>
      </p:sp>
      <p:sp>
        <p:nvSpPr>
          <p:cNvPr id="33" name="文本框 32"/>
          <p:cNvSpPr txBox="1"/>
          <p:nvPr>
            <p:custDataLst>
              <p:tags r:id="rId6"/>
            </p:custDataLst>
          </p:nvPr>
        </p:nvSpPr>
        <p:spPr>
          <a:xfrm>
            <a:off x="1015784" y="5069207"/>
            <a:ext cx="48741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1600" kern="100" dirty="0"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</a:t>
            </a:r>
            <a:r>
              <a:rPr lang="zh-CN" altLang="en-US" sz="1600" kern="100" dirty="0"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基于视觉识别与定位结果，控制机械臂完成货物抓取、搬运和放置动作。</a:t>
            </a:r>
          </a:p>
        </p:txBody>
      </p:sp>
      <p:sp>
        <p:nvSpPr>
          <p:cNvPr id="42" name="矩形 41"/>
          <p:cNvSpPr/>
          <p:nvPr/>
        </p:nvSpPr>
        <p:spPr bwMode="auto">
          <a:xfrm>
            <a:off x="6582475" y="1448321"/>
            <a:ext cx="4515454" cy="1977986"/>
          </a:xfrm>
          <a:prstGeom prst="rect">
            <a:avLst/>
          </a:prstGeom>
          <a:solidFill>
            <a:srgbClr val="92D050">
              <a:alpha val="1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矩形 5"/>
          <p:cNvSpPr/>
          <p:nvPr/>
        </p:nvSpPr>
        <p:spPr>
          <a:xfrm>
            <a:off x="7867540" y="1297102"/>
            <a:ext cx="1941613" cy="491692"/>
          </a:xfrm>
          <a:prstGeom prst="rect">
            <a:avLst/>
          </a:prstGeom>
          <a:solidFill>
            <a:srgbClr val="113E6A"/>
          </a:solidFill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状态监控</a:t>
            </a:r>
          </a:p>
        </p:txBody>
      </p:sp>
      <p:sp>
        <p:nvSpPr>
          <p:cNvPr id="44" name="矩形 43"/>
          <p:cNvSpPr/>
          <p:nvPr/>
        </p:nvSpPr>
        <p:spPr bwMode="auto">
          <a:xfrm>
            <a:off x="7364573" y="1939563"/>
            <a:ext cx="2947546" cy="399717"/>
          </a:xfrm>
          <a:prstGeom prst="rect">
            <a:avLst/>
          </a:prstGeom>
          <a:solidFill>
            <a:srgbClr val="00B050">
              <a:alpha val="1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</a:rPr>
              <a:t>系统状态监控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7164070" y="2379345"/>
            <a:ext cx="3366770" cy="875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kern="100" dirty="0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 </a:t>
            </a:r>
            <a:r>
              <a:rPr lang="zh-CN" altLang="en-US" sz="1600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对机器人运行状态、相机画面、任务进度和统计数据进行实时监控。</a:t>
            </a:r>
          </a:p>
        </p:txBody>
      </p:sp>
      <p:sp>
        <p:nvSpPr>
          <p:cNvPr id="51" name="矩形 50"/>
          <p:cNvSpPr/>
          <p:nvPr/>
        </p:nvSpPr>
        <p:spPr bwMode="auto">
          <a:xfrm>
            <a:off x="6582475" y="3655027"/>
            <a:ext cx="4515454" cy="2322262"/>
          </a:xfrm>
          <a:prstGeom prst="rect">
            <a:avLst/>
          </a:prstGeom>
          <a:solidFill>
            <a:srgbClr val="7030A0">
              <a:alpha val="1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矩形 5"/>
          <p:cNvSpPr/>
          <p:nvPr/>
        </p:nvSpPr>
        <p:spPr>
          <a:xfrm>
            <a:off x="7867540" y="3503809"/>
            <a:ext cx="1941613" cy="491692"/>
          </a:xfrm>
          <a:prstGeom prst="rect">
            <a:avLst/>
          </a:prstGeom>
          <a:solidFill>
            <a:srgbClr val="113E6A"/>
          </a:solidFill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异常处理</a:t>
            </a:r>
          </a:p>
        </p:txBody>
      </p:sp>
      <p:sp>
        <p:nvSpPr>
          <p:cNvPr id="53" name="矩形 52"/>
          <p:cNvSpPr/>
          <p:nvPr/>
        </p:nvSpPr>
        <p:spPr bwMode="auto">
          <a:xfrm>
            <a:off x="7364573" y="4237287"/>
            <a:ext cx="2947546" cy="399717"/>
          </a:xfrm>
          <a:prstGeom prst="rect">
            <a:avLst/>
          </a:prstGeom>
          <a:solidFill>
            <a:srgbClr val="7030A0">
              <a:alpha val="1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</a:rPr>
              <a:t>任务异常处理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6772910" y="4751070"/>
            <a:ext cx="4157345" cy="875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kern="100" dirty="0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 </a:t>
            </a:r>
            <a:r>
              <a:rPr lang="zh-CN" altLang="en-US" sz="1600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对识别失败、抓取失败、路径规划失败、设备异常和急停等情况进行检测、处理和反馈。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范围分析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非功能性需求</a:t>
            </a:r>
          </a:p>
        </p:txBody>
      </p:sp>
      <p:sp>
        <p:nvSpPr>
          <p:cNvPr id="5" name="矩形 5"/>
          <p:cNvSpPr/>
          <p:nvPr>
            <p:custDataLst>
              <p:tags r:id="rId1"/>
            </p:custDataLst>
          </p:nvPr>
        </p:nvSpPr>
        <p:spPr>
          <a:xfrm>
            <a:off x="3259041" y="1649442"/>
            <a:ext cx="6719887" cy="431800"/>
          </a:xfrm>
          <a:prstGeom prst="rect">
            <a:avLst/>
          </a:prstGeom>
          <a:solidFill>
            <a:srgbClr val="113E6A"/>
          </a:solidFill>
          <a:ln w="9525">
            <a:noFill/>
          </a:ln>
        </p:spPr>
        <p:txBody>
          <a:bodyPr anchor="t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6"/>
          <p:cNvSpPr/>
          <p:nvPr>
            <p:custDataLst>
              <p:tags r:id="rId2"/>
            </p:custDataLst>
          </p:nvPr>
        </p:nvSpPr>
        <p:spPr>
          <a:xfrm>
            <a:off x="3259041" y="3341717"/>
            <a:ext cx="6719887" cy="431800"/>
          </a:xfrm>
          <a:prstGeom prst="rect">
            <a:avLst/>
          </a:prstGeom>
          <a:solidFill>
            <a:srgbClr val="113E6A"/>
          </a:solidFill>
          <a:ln w="9525">
            <a:noFill/>
          </a:ln>
        </p:spPr>
        <p:txBody>
          <a:bodyPr anchor="t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 7"/>
          <p:cNvSpPr/>
          <p:nvPr>
            <p:custDataLst>
              <p:tags r:id="rId3"/>
            </p:custDataLst>
          </p:nvPr>
        </p:nvSpPr>
        <p:spPr>
          <a:xfrm>
            <a:off x="3259041" y="5184805"/>
            <a:ext cx="6719887" cy="431800"/>
          </a:xfrm>
          <a:prstGeom prst="rect">
            <a:avLst/>
          </a:prstGeom>
          <a:solidFill>
            <a:srgbClr val="113E6A"/>
          </a:solidFill>
          <a:ln w="9525">
            <a:noFill/>
          </a:ln>
        </p:spPr>
        <p:txBody>
          <a:bodyPr anchor="t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TextBox 8"/>
          <p:cNvSpPr txBox="1"/>
          <p:nvPr>
            <p:custDataLst>
              <p:tags r:id="rId4"/>
            </p:custDataLst>
          </p:nvPr>
        </p:nvSpPr>
        <p:spPr>
          <a:xfrm>
            <a:off x="3259041" y="1649442"/>
            <a:ext cx="3622675" cy="4000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可靠性与稳定性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Freeform 6"/>
          <p:cNvSpPr/>
          <p:nvPr>
            <p:custDataLst>
              <p:tags r:id="rId5"/>
            </p:custDataLst>
          </p:nvPr>
        </p:nvSpPr>
        <p:spPr>
          <a:xfrm>
            <a:off x="2827241" y="1666905"/>
            <a:ext cx="339725" cy="388937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0" t="0" r="0" b="0"/>
            <a:pathLst>
              <a:path w="443" h="511">
                <a:moveTo>
                  <a:pt x="0" y="256"/>
                </a:moveTo>
                <a:lnTo>
                  <a:pt x="221" y="128"/>
                </a:lnTo>
                <a:lnTo>
                  <a:pt x="443" y="0"/>
                </a:lnTo>
                <a:lnTo>
                  <a:pt x="443" y="256"/>
                </a:lnTo>
                <a:lnTo>
                  <a:pt x="443" y="511"/>
                </a:lnTo>
                <a:lnTo>
                  <a:pt x="221" y="384"/>
                </a:lnTo>
                <a:lnTo>
                  <a:pt x="0" y="256"/>
                </a:ln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6"/>
          <p:cNvSpPr/>
          <p:nvPr>
            <p:custDataLst>
              <p:tags r:id="rId6"/>
            </p:custDataLst>
          </p:nvPr>
        </p:nvSpPr>
        <p:spPr>
          <a:xfrm>
            <a:off x="2827241" y="3359180"/>
            <a:ext cx="339725" cy="388937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0" t="0" r="0" b="0"/>
            <a:pathLst>
              <a:path w="443" h="511">
                <a:moveTo>
                  <a:pt x="0" y="256"/>
                </a:moveTo>
                <a:lnTo>
                  <a:pt x="221" y="128"/>
                </a:lnTo>
                <a:lnTo>
                  <a:pt x="443" y="0"/>
                </a:lnTo>
                <a:lnTo>
                  <a:pt x="443" y="256"/>
                </a:lnTo>
                <a:lnTo>
                  <a:pt x="443" y="511"/>
                </a:lnTo>
                <a:lnTo>
                  <a:pt x="221" y="384"/>
                </a:lnTo>
                <a:lnTo>
                  <a:pt x="0" y="256"/>
                </a:ln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6"/>
          <p:cNvSpPr/>
          <p:nvPr>
            <p:custDataLst>
              <p:tags r:id="rId7"/>
            </p:custDataLst>
          </p:nvPr>
        </p:nvSpPr>
        <p:spPr>
          <a:xfrm>
            <a:off x="2827241" y="5187980"/>
            <a:ext cx="339725" cy="388937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0" t="0" r="0" b="0"/>
            <a:pathLst>
              <a:path w="443" h="511">
                <a:moveTo>
                  <a:pt x="0" y="256"/>
                </a:moveTo>
                <a:lnTo>
                  <a:pt x="221" y="128"/>
                </a:lnTo>
                <a:lnTo>
                  <a:pt x="443" y="0"/>
                </a:lnTo>
                <a:lnTo>
                  <a:pt x="443" y="256"/>
                </a:lnTo>
                <a:lnTo>
                  <a:pt x="443" y="511"/>
                </a:lnTo>
                <a:lnTo>
                  <a:pt x="221" y="384"/>
                </a:lnTo>
                <a:lnTo>
                  <a:pt x="0" y="256"/>
                </a:ln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3259041" y="3356005"/>
            <a:ext cx="3767137" cy="4000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异常处理功能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3259041" y="5184805"/>
            <a:ext cx="3767137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可维护性与可扩展性</a:t>
            </a: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3166966" y="2121814"/>
            <a:ext cx="6577013" cy="9220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      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满足批量分拣任务的节拍要求。保证识别、定位、路径规划和状态刷新具有较好的响应速度。保证识别、定位与码垛精度。</a:t>
            </a:r>
            <a:endParaRPr lang="zh-CN" altLang="en-US" dirty="0">
              <a:solidFill>
                <a:srgbClr val="004C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3207864" y="3790446"/>
            <a:ext cx="6577013" cy="9220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      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具备急停、碰撞防护与异常安全停机能力。对一般异常应具备自动恢复、自动跳过或安全暂停能力。</a:t>
            </a: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3259041" y="5682577"/>
            <a:ext cx="6577013" cy="9220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      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键参数应支持配置化管理，软件模块边界清晰，便于后续调试、维护和优化，并支持未来扩展货物种类、码垛规则。</a:t>
            </a:r>
            <a:endParaRPr lang="zh-CN" altLang="en-US" dirty="0">
              <a:solidFill>
                <a:srgbClr val="004C5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Oval 6"/>
          <p:cNvSpPr/>
          <p:nvPr>
            <p:custDataLst>
              <p:tags r:id="rId13"/>
            </p:custDataLst>
          </p:nvPr>
        </p:nvSpPr>
        <p:spPr>
          <a:xfrm>
            <a:off x="1317486" y="1435623"/>
            <a:ext cx="1076325" cy="1076325"/>
          </a:xfrm>
          <a:prstGeom prst="ellipse">
            <a:avLst/>
          </a:prstGeom>
          <a:solidFill>
            <a:srgbClr val="DFDFE1"/>
          </a:solidFill>
          <a:ln w="9525">
            <a:noFill/>
          </a:ln>
        </p:spPr>
        <p:txBody>
          <a:bodyPr anchor="t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Oval 7"/>
          <p:cNvSpPr/>
          <p:nvPr>
            <p:custDataLst>
              <p:tags r:id="rId14"/>
            </p:custDataLst>
          </p:nvPr>
        </p:nvSpPr>
        <p:spPr>
          <a:xfrm>
            <a:off x="1407974" y="1526110"/>
            <a:ext cx="896937" cy="895350"/>
          </a:xfrm>
          <a:prstGeom prst="ellipse">
            <a:avLst/>
          </a:prstGeom>
          <a:solidFill>
            <a:srgbClr val="113E6A"/>
          </a:solidFill>
          <a:ln w="9525">
            <a:noFill/>
          </a:ln>
        </p:spPr>
        <p:txBody>
          <a:bodyPr anchor="t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TextBox 19"/>
          <p:cNvSpPr txBox="1"/>
          <p:nvPr>
            <p:custDataLst>
              <p:tags r:id="rId15"/>
            </p:custDataLst>
          </p:nvPr>
        </p:nvSpPr>
        <p:spPr>
          <a:xfrm>
            <a:off x="1407974" y="1649935"/>
            <a:ext cx="901700" cy="646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</a:p>
        </p:txBody>
      </p:sp>
      <p:sp>
        <p:nvSpPr>
          <p:cNvPr id="25" name="Oval 6"/>
          <p:cNvSpPr/>
          <p:nvPr>
            <p:custDataLst>
              <p:tags r:id="rId16"/>
            </p:custDataLst>
          </p:nvPr>
        </p:nvSpPr>
        <p:spPr>
          <a:xfrm>
            <a:off x="1317486" y="3039586"/>
            <a:ext cx="1076325" cy="1076325"/>
          </a:xfrm>
          <a:prstGeom prst="ellipse">
            <a:avLst/>
          </a:prstGeom>
          <a:solidFill>
            <a:srgbClr val="DFDFE1"/>
          </a:solidFill>
          <a:ln w="9525">
            <a:noFill/>
          </a:ln>
        </p:spPr>
        <p:txBody>
          <a:bodyPr anchor="t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Oval 7"/>
          <p:cNvSpPr/>
          <p:nvPr>
            <p:custDataLst>
              <p:tags r:id="rId17"/>
            </p:custDataLst>
          </p:nvPr>
        </p:nvSpPr>
        <p:spPr>
          <a:xfrm>
            <a:off x="1407974" y="3130073"/>
            <a:ext cx="896937" cy="895350"/>
          </a:xfrm>
          <a:prstGeom prst="ellipse">
            <a:avLst/>
          </a:prstGeom>
          <a:solidFill>
            <a:srgbClr val="113E6A"/>
          </a:solidFill>
          <a:ln w="9525">
            <a:noFill/>
          </a:ln>
        </p:spPr>
        <p:txBody>
          <a:bodyPr anchor="t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TextBox 19"/>
          <p:cNvSpPr txBox="1"/>
          <p:nvPr>
            <p:custDataLst>
              <p:tags r:id="rId18"/>
            </p:custDataLst>
          </p:nvPr>
        </p:nvSpPr>
        <p:spPr>
          <a:xfrm>
            <a:off x="1407974" y="3253898"/>
            <a:ext cx="901700" cy="646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</a:p>
        </p:txBody>
      </p:sp>
      <p:sp>
        <p:nvSpPr>
          <p:cNvPr id="28" name="Oval 6"/>
          <p:cNvSpPr/>
          <p:nvPr>
            <p:custDataLst>
              <p:tags r:id="rId19"/>
            </p:custDataLst>
          </p:nvPr>
        </p:nvSpPr>
        <p:spPr>
          <a:xfrm>
            <a:off x="1364985" y="4798331"/>
            <a:ext cx="1076325" cy="1076325"/>
          </a:xfrm>
          <a:prstGeom prst="ellipse">
            <a:avLst/>
          </a:prstGeom>
          <a:solidFill>
            <a:srgbClr val="DFDFE1"/>
          </a:solidFill>
          <a:ln w="9525">
            <a:noFill/>
          </a:ln>
        </p:spPr>
        <p:txBody>
          <a:bodyPr anchor="t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Oval 7"/>
          <p:cNvSpPr/>
          <p:nvPr>
            <p:custDataLst>
              <p:tags r:id="rId20"/>
            </p:custDataLst>
          </p:nvPr>
        </p:nvSpPr>
        <p:spPr>
          <a:xfrm>
            <a:off x="1455473" y="4888818"/>
            <a:ext cx="896937" cy="895350"/>
          </a:xfrm>
          <a:prstGeom prst="ellipse">
            <a:avLst/>
          </a:prstGeom>
          <a:solidFill>
            <a:srgbClr val="113E6A"/>
          </a:solidFill>
          <a:ln w="9525">
            <a:noFill/>
          </a:ln>
        </p:spPr>
        <p:txBody>
          <a:bodyPr anchor="t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TextBox 19"/>
          <p:cNvSpPr txBox="1"/>
          <p:nvPr>
            <p:custDataLst>
              <p:tags r:id="rId21"/>
            </p:custDataLst>
          </p:nvPr>
        </p:nvSpPr>
        <p:spPr>
          <a:xfrm>
            <a:off x="1455473" y="5012643"/>
            <a:ext cx="901700" cy="646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/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>
                <a:solidFill>
                  <a:srgbClr val="0E60A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5400" b="1" dirty="0">
              <a:solidFill>
                <a:srgbClr val="0E60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业务需求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用例分析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总用例图</a:t>
            </a:r>
          </a:p>
        </p:txBody>
      </p:sp>
      <p:sp>
        <p:nvSpPr>
          <p:cNvPr id="3" name="矩形: 圆角 2"/>
          <p:cNvSpPr/>
          <p:nvPr/>
        </p:nvSpPr>
        <p:spPr bwMode="auto">
          <a:xfrm>
            <a:off x="4624634" y="5784350"/>
            <a:ext cx="2088219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32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包含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个子用例</a:t>
            </a:r>
          </a:p>
        </p:txBody>
      </p:sp>
      <p:pic>
        <p:nvPicPr>
          <p:cNvPr id="2" name="图片 -2147482623" descr="业务用例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96520"/>
            <a:ext cx="5943600" cy="6664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用例分析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/>
              <a:t>用例描述表</a:t>
            </a:r>
          </a:p>
        </p:txBody>
      </p:sp>
      <p:graphicFrame>
        <p:nvGraphicFramePr>
          <p:cNvPr id="2" name="表格 1"/>
          <p:cNvGraphicFramePr/>
          <p:nvPr/>
        </p:nvGraphicFramePr>
        <p:xfrm>
          <a:off x="2238375" y="366395"/>
          <a:ext cx="9118600" cy="6074410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3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7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编号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用例名称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参与者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管理批量分拣任务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操作员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任务参数（货物类型、目标数量）、操作指令（启动</a:t>
                      </a: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/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暂停</a:t>
                      </a: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/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中止）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任务创建成功确认、任务进度信息、任务完成状态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操作员可以创建新的批量分拣任务，指定需要分拣的货物类型和数量，并能够对任务进行启动、暂停、中止等控制操作，同时可以查看当前任务的执行进度和历史任务的完成情况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监控系统状态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操作员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机器人实时状态、相机画面、任务进度、统计数据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操作员可以实时查看机器人的运行状态（机械臂位置、运动状态）、相机采集的实时画面、当前任务的执行进度以及各类分拣统计数据，以便全面掌握系统运行情况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813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3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处理异常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操作员、机器人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异常事件信息、操作员确认</a:t>
                      </a: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/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干预指令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异常处理结果、恢复运行或安全停止状态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机器人检测到异常（抓取失败、识别失败、路径受阻、设备异常）后，自动尝试恢复或进入安全状态，并向操作员上报异常信息；操作员可根据信息进行确认、干预或执行紧急停止操作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4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执行货物分拣与码垛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操作员、机器人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来自任务管理模块的启动指令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货物识别结果、抓取动作、码垛结果、分拣统计更新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系统的核心业务流程，自动完成从货物识别、定位、抓取、搬运到码垛的全过程，是机器人响应操作员任务指令的具体执行体现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/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 dirty="0">
                <a:solidFill>
                  <a:srgbClr val="0E60A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1" name="矩形 10"/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数据需求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数据需求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710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类图</a:t>
            </a:r>
          </a:p>
        </p:txBody>
      </p:sp>
      <p:sp>
        <p:nvSpPr>
          <p:cNvPr id="3" name="矩形: 圆角 2"/>
          <p:cNvSpPr/>
          <p:nvPr/>
        </p:nvSpPr>
        <p:spPr bwMode="auto">
          <a:xfrm>
            <a:off x="74129" y="3109602"/>
            <a:ext cx="2088219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32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共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大类</a:t>
            </a:r>
          </a:p>
        </p:txBody>
      </p:sp>
      <p:pic>
        <p:nvPicPr>
          <p:cNvPr id="2" name="图片 1" descr="数据需求类图"/>
          <p:cNvPicPr>
            <a:picLocks noChangeAspect="1"/>
          </p:cNvPicPr>
          <p:nvPr/>
        </p:nvPicPr>
        <p:blipFill>
          <a:blip r:embed="rId2"/>
          <a:srcRect t="5733" r="934"/>
          <a:stretch>
            <a:fillRect/>
          </a:stretch>
        </p:blipFill>
        <p:spPr>
          <a:xfrm>
            <a:off x="2256790" y="15240"/>
            <a:ext cx="4523105" cy="684466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" name="表格 4"/>
          <p:cNvGraphicFramePr/>
          <p:nvPr/>
        </p:nvGraphicFramePr>
        <p:xfrm>
          <a:off x="7011035" y="661670"/>
          <a:ext cx="4335780" cy="5450205"/>
        </p:xfrm>
        <a:graphic>
          <a:graphicData uri="http://schemas.openxmlformats.org/drawingml/2006/table">
            <a:tbl>
              <a:tblPr/>
              <a:tblGrid>
                <a:gridCol w="734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44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数据实体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职责说明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分拣任务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分拣任务类负责管理操作员下达的每一个批量分拣作业，记录任务的完整生命周期，包括任务创建、执行、暂停、中止和完成等状态变化，同时跟踪任务的执行进度。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货物信息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货物信息类代表被机器人识别和处理的每一个物理货物，记录从识别、定位、抓取到放置的全过程数据，是连接视觉模块和控制模块的核心数据实体。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码垛位置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latin typeface="Times New Roman" panose="02020603050405020304"/>
                          <a:ea typeface="Times New Roman" panose="02020603050405020304"/>
                        </a:rPr>
                        <a:t> </a:t>
                      </a: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码垛位置类管理每个目标区域（</a:t>
                      </a:r>
                      <a:r>
                        <a:rPr lang="en-US" altLang="zh-CN" sz="900">
                          <a:latin typeface="Times New Roman" panose="02020603050405020304"/>
                          <a:ea typeface="Times New Roman" panose="02020603050405020304"/>
                        </a:rPr>
                        <a:t>B</a:t>
                      </a: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区和</a:t>
                      </a:r>
                      <a:r>
                        <a:rPr lang="en-US" altLang="zh-CN" sz="900">
                          <a:latin typeface="Times New Roman" panose="02020603050405020304"/>
                          <a:ea typeface="Times New Roman" panose="02020603050405020304"/>
                        </a:rPr>
                        <a:t>C</a:t>
                      </a: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区）的码垛状态，负责根据当前码垛层数和垛型规则，计算下一个货物的放置点坐标，确保货物叠放整齐、稳定。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系统日志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系统日志类记录系统运行过程中的所有关键事件、警告和错误信息，为故障诊断、系统调试和运行分析提供依据。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系统配置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系统配置类存储系统运行所需的各种可调参数，包括视觉识别阈值、机械臂运动速度、码垛规则等，支持系统维护人员根据实际需求进行调整。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相机标定参数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相机标定参数类存储视觉系统的标定数据，包括相机内参、手眼变换矩阵，确保视觉识别和定位的精度。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/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 dirty="0">
                <a:solidFill>
                  <a:srgbClr val="0E60A8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</a:p>
        </p:txBody>
      </p:sp>
      <p:sp>
        <p:nvSpPr>
          <p:cNvPr id="11" name="矩形 10"/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功能需求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功能需求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总活动图</a:t>
            </a:r>
          </a:p>
        </p:txBody>
      </p:sp>
      <p:pic>
        <p:nvPicPr>
          <p:cNvPr id="2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865" y="0"/>
            <a:ext cx="5913755" cy="68560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571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功能需求</a:t>
            </a:r>
            <a:r>
              <a:rPr lang="en-US" altLang="zh-CN" sz="2400" b="1" dirty="0"/>
              <a:t>1</a:t>
            </a:r>
            <a:endParaRPr lang="zh-CN" altLang="en-US" sz="2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70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/>
              <a:t>管理分拣任务</a:t>
            </a:r>
          </a:p>
          <a:p>
            <a:pPr algn="l"/>
            <a:r>
              <a:rPr lang="en-US" altLang="zh-CN" sz="2000" dirty="0"/>
              <a:t>- </a:t>
            </a:r>
            <a:r>
              <a:rPr lang="zh-CN" altLang="en-US" sz="2000" dirty="0"/>
              <a:t>主流程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502535" y="1197610"/>
            <a:ext cx="7578090" cy="4683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indent="0" algn="just">
              <a:lnSpc>
                <a:spcPct val="150000"/>
              </a:lnSpc>
              <a:buFont typeface="+mj-lt"/>
              <a:buNone/>
            </a:pP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1.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操作员在系统主界面点击</a:t>
            </a: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“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创建任务</a:t>
            </a: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”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按钮。</a:t>
            </a:r>
          </a:p>
          <a:p>
            <a:pPr lvl="0" indent="0" algn="just">
              <a:lnSpc>
                <a:spcPct val="150000"/>
              </a:lnSpc>
              <a:buFont typeface="+mj-lt"/>
              <a:buNone/>
            </a:pP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2.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系统弹出任务创建窗口，显示任务参数输入表单。</a:t>
            </a:r>
          </a:p>
          <a:p>
            <a:pPr lvl="0" indent="0" algn="just">
              <a:lnSpc>
                <a:spcPct val="150000"/>
              </a:lnSpc>
              <a:buFont typeface="+mj-lt"/>
              <a:buNone/>
            </a:pP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3.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操作员输入任务名称、选择目标货物类型（本色纸盒</a:t>
            </a: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/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彩色纸箱）、输入目标货物数量。</a:t>
            </a:r>
          </a:p>
          <a:p>
            <a:pPr lvl="0" indent="0" algn="just">
              <a:lnSpc>
                <a:spcPct val="150000"/>
              </a:lnSpc>
              <a:buFont typeface="+mj-lt"/>
              <a:buNone/>
            </a:pP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4.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操作员点击</a:t>
            </a: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“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确认</a:t>
            </a: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”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按钮。</a:t>
            </a:r>
          </a:p>
          <a:p>
            <a:pPr lvl="0" indent="0" algn="just">
              <a:lnSpc>
                <a:spcPct val="150000"/>
              </a:lnSpc>
              <a:buFont typeface="+mj-lt"/>
              <a:buNone/>
            </a:pP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5.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系统验证输入参数（任务名称不为空、目标数量为正整数）。</a:t>
            </a:r>
          </a:p>
          <a:p>
            <a:pPr lvl="0" indent="0" algn="just">
              <a:lnSpc>
                <a:spcPct val="150000"/>
              </a:lnSpc>
              <a:buFont typeface="+mj-lt"/>
              <a:buNone/>
            </a:pP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6.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系统生成唯一的任务</a:t>
            </a: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ID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，记录创建时间，初始化任务状态为</a:t>
            </a: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“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待执行</a:t>
            </a: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”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。</a:t>
            </a:r>
          </a:p>
          <a:p>
            <a:pPr lvl="0" indent="0" algn="just">
              <a:lnSpc>
                <a:spcPct val="150000"/>
              </a:lnSpc>
              <a:buFont typeface="+mj-lt"/>
              <a:buNone/>
            </a:pP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7.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系统自动启动任务，将任务状态更新为</a:t>
            </a: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“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执行中</a:t>
            </a: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”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，记录开始时间。</a:t>
            </a:r>
          </a:p>
          <a:p>
            <a:pPr lvl="0" indent="0" algn="just">
              <a:lnSpc>
                <a:spcPct val="150000"/>
              </a:lnSpc>
              <a:buFont typeface="+mj-lt"/>
              <a:buNone/>
            </a:pP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8.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系统通知机器人模块开始执行分拣作业。</a:t>
            </a:r>
          </a:p>
          <a:p>
            <a:pPr lvl="0" indent="0" algn="just">
              <a:lnSpc>
                <a:spcPct val="150000"/>
              </a:lnSpc>
              <a:buFont typeface="+mj-lt"/>
              <a:buNone/>
            </a:pP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系统在任务列表中显示新创建的任务，并实时更新任务进度。</a:t>
            </a:r>
          </a:p>
          <a:p>
            <a:pPr lvl="0" indent="0" algn="just">
              <a:lnSpc>
                <a:spcPct val="150000"/>
              </a:lnSpc>
              <a:buFont typeface="+mj-lt"/>
              <a:buNone/>
            </a:pPr>
            <a:r>
              <a:rPr lang="zh-CN" altLang="en-US" sz="1800" b="1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后置条件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：新任务已创建并启动执行，机器人开始分拣作业。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571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功能需求</a:t>
            </a:r>
            <a:r>
              <a:rPr lang="en-US" altLang="zh-CN" sz="2400" b="1" dirty="0"/>
              <a:t>1</a:t>
            </a:r>
            <a:endParaRPr lang="zh-CN" altLang="en-US" sz="2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70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/>
              <a:t>管理分拣任务</a:t>
            </a:r>
          </a:p>
          <a:p>
            <a:pPr algn="l"/>
            <a:r>
              <a:rPr lang="en-US" altLang="zh-CN" sz="2000" dirty="0"/>
              <a:t>- </a:t>
            </a:r>
            <a:r>
              <a:rPr lang="zh-CN" altLang="en-US" sz="2000" dirty="0"/>
              <a:t>分支流图表</a:t>
            </a:r>
          </a:p>
        </p:txBody>
      </p:sp>
      <p:graphicFrame>
        <p:nvGraphicFramePr>
          <p:cNvPr id="2" name="表格 1"/>
          <p:cNvGraphicFramePr/>
          <p:nvPr>
            <p:extLst>
              <p:ext uri="{D42A27DB-BD31-4B8C-83A1-F6EECF244321}">
                <p14:modId xmlns:p14="http://schemas.microsoft.com/office/powerpoint/2010/main" val="106888345"/>
              </p:ext>
            </p:extLst>
          </p:nvPr>
        </p:nvGraphicFramePr>
        <p:xfrm>
          <a:off x="2779395" y="191135"/>
          <a:ext cx="9015730" cy="6398260"/>
        </p:xfrm>
        <a:graphic>
          <a:graphicData uri="http://schemas.openxmlformats.org/drawingml/2006/table">
            <a:tbl>
              <a:tblPr/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4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2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0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2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198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分支编号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分支名称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前置</a:t>
                      </a:r>
                      <a:r>
                        <a:rPr lang="zh-CN" sz="10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条件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处理流程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后置条件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98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参数验证失败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目标数量为</a:t>
                      </a: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或负数，或任务名称为空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1.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系统弹出提示框，显示</a:t>
                      </a:r>
                      <a: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  <a:t>“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参数错误：请检查输入</a:t>
                      </a:r>
                      <a: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  <a:t>”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；</a:t>
                      </a:r>
                      <a:b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</a:b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2.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系统高亮显示错误输入项；</a:t>
                      </a:r>
                      <a:b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</a:b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3.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系统保持任务创建窗口打开，等待操作员修正；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任务未创建，操作员可重新输入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904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创建后手动暂停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任务创建并启动后，操作员点击</a:t>
                      </a:r>
                      <a: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  <a:t>“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暂停</a:t>
                      </a:r>
                      <a: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  <a:t>”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按钮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1.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系统向机器人模块发送暂停指令；</a:t>
                      </a:r>
                      <a:b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</a:b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2.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机器人完成当前货物的搬运放置后停止运动；</a:t>
                      </a:r>
                      <a:b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</a:b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3.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系统将任务状态更新为</a:t>
                      </a:r>
                      <a: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  <a:t>“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已暂停</a:t>
                      </a:r>
                      <a: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  <a:t>”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；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任务状态变更为</a:t>
                      </a:r>
                      <a: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  <a:t>“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已暂停</a:t>
                      </a:r>
                      <a: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  <a:t>”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，机器人停止运动，可恢复执行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118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3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创建后手动中止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任务创建并启动后，操作员点击</a:t>
                      </a:r>
                      <a: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  <a:t>“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中止</a:t>
                      </a:r>
                      <a: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  <a:t>”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按钮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1.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系统弹出确认对话框，询问是否确认中止；</a:t>
                      </a:r>
                      <a:b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</a:b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2.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操作员确认中止；</a:t>
                      </a:r>
                      <a:b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</a:b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3.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系统向机器人模块发送紧急停止指令；</a:t>
                      </a:r>
                      <a:b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</a:b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4.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机器人立即停止所有运动；</a:t>
                      </a:r>
                      <a:b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</a:b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5.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系统将任务状态更新为</a:t>
                      </a:r>
                      <a: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  <a:t>“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已中止</a:t>
                      </a:r>
                      <a: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  <a:t>”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，记录结束时间；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任务状态变更为</a:t>
                      </a:r>
                      <a: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  <a:t>“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已中止</a:t>
                      </a:r>
                      <a: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  <a:t>”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，机器人停止运动，该任务不再继续执行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618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4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查看任务进度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操作员在任务列表中选择一个正在执行或已暂停的任务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1.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系统在界面右侧显示任务详情面板；</a:t>
                      </a:r>
                      <a:br>
                        <a:rPr lang="zh-CN" altLang="en-US" sz="1000">
                          <a:latin typeface="Times New Roman" panose="02020603050405020304"/>
                          <a:ea typeface="Times New Roman" panose="02020603050405020304"/>
                        </a:rPr>
                      </a:b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2.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系统展示任务的目标数量、已分拣数量、成功数量、失败数量、完成百分比；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操作员获知当前任务进度信息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571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功能需求</a:t>
            </a:r>
            <a:r>
              <a:rPr lang="en-US" altLang="zh-CN" sz="2400" b="1" dirty="0"/>
              <a:t>2</a:t>
            </a:r>
            <a:endParaRPr lang="zh-CN" altLang="en-US" sz="2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76403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/>
              <a:t>监控系统状态</a:t>
            </a:r>
            <a:r>
              <a:rPr lang="en-US" altLang="zh-CN" sz="2000" dirty="0"/>
              <a:t> </a:t>
            </a:r>
            <a:endParaRPr lang="zh-CN" altLang="en-US" sz="2000" dirty="0"/>
          </a:p>
          <a:p>
            <a:pPr algn="l"/>
            <a:r>
              <a:rPr lang="en-US" altLang="zh-CN" sz="2000" dirty="0"/>
              <a:t>- </a:t>
            </a:r>
            <a:r>
              <a:rPr lang="zh-CN" altLang="en-US" sz="2000" dirty="0"/>
              <a:t>主流程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502535" y="1197610"/>
            <a:ext cx="7578090" cy="4683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操作员进入系统主界面。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系统在状态监控区实时显示机器人状态信息，包括机械臂当前位置、关节角度、运动状态（空闲</a:t>
            </a: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/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运动中</a:t>
            </a: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/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暂停</a:t>
            </a: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/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急停）、机械臂连接状态。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系统在视频监控区显示相机实时画面，并在画面上叠加显示识别框和货物类型标签。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系统在任务状态区显示当前任务信息，包括任务名称、任务状态、已分拣数</a:t>
            </a: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/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目标总数、完成进度条。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系统每</a:t>
            </a: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0.5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秒刷新一次所有状态数据。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操作员可点击</a:t>
            </a: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“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统计报表</a:t>
            </a:r>
            <a:r>
              <a:rPr lang="en-US" altLang="zh-CN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”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按钮查看历史统计数据。</a:t>
            </a:r>
          </a:p>
          <a:p>
            <a:pPr lvl="0" indent="0" algn="just">
              <a:lnSpc>
                <a:spcPct val="150000"/>
              </a:lnSpc>
              <a:buFont typeface="+mj-lt"/>
              <a:buNone/>
            </a:pPr>
            <a:r>
              <a:rPr lang="zh-CN" altLang="en-US" sz="1800" b="1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后置条件</a:t>
            </a:r>
            <a:r>
              <a:rPr lang="zh-CN" altLang="en-US" sz="18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：操作员获知机器人状态、相机画面、当前任务进度和历史统计数据。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571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功能需求</a:t>
            </a:r>
            <a:r>
              <a:rPr lang="en-US" altLang="zh-CN" sz="2400" b="1" dirty="0"/>
              <a:t>2</a:t>
            </a:r>
            <a:endParaRPr lang="zh-CN" altLang="en-US" sz="2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76403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/>
              <a:t>监控系统状态</a:t>
            </a:r>
            <a:r>
              <a:rPr lang="en-US" altLang="zh-CN" sz="2000" dirty="0"/>
              <a:t> </a:t>
            </a:r>
            <a:endParaRPr lang="zh-CN" altLang="en-US" sz="2000" dirty="0"/>
          </a:p>
          <a:p>
            <a:pPr algn="l"/>
            <a:r>
              <a:rPr lang="en-US" altLang="zh-CN" sz="2000" dirty="0"/>
              <a:t>- </a:t>
            </a:r>
            <a:r>
              <a:rPr lang="zh-CN" altLang="en-US" sz="2000" dirty="0"/>
              <a:t>分支流图表</a:t>
            </a:r>
          </a:p>
        </p:txBody>
      </p:sp>
      <p:graphicFrame>
        <p:nvGraphicFramePr>
          <p:cNvPr id="2" name="表格 1"/>
          <p:cNvGraphicFramePr/>
          <p:nvPr>
            <p:extLst>
              <p:ext uri="{D42A27DB-BD31-4B8C-83A1-F6EECF244321}">
                <p14:modId xmlns:p14="http://schemas.microsoft.com/office/powerpoint/2010/main" val="2993768813"/>
              </p:ext>
            </p:extLst>
          </p:nvPr>
        </p:nvGraphicFramePr>
        <p:xfrm>
          <a:off x="2768600" y="1353185"/>
          <a:ext cx="7065010" cy="3591878"/>
        </p:xfrm>
        <a:graphic>
          <a:graphicData uri="http://schemas.openxmlformats.org/drawingml/2006/table">
            <a:tbl>
              <a:tblPr/>
              <a:tblGrid>
                <a:gridCol w="639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5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3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0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6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279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分支编号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分支名称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前置</a:t>
                      </a:r>
                      <a:r>
                        <a:rPr lang="zh-CN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条件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处理流程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后置条件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相机画面丢失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相机断开连接或未响应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Times New Roman" panose="02020603050405020304"/>
                          <a:ea typeface="Times New Roman" panose="02020603050405020304"/>
                        </a:rPr>
                        <a:t>1. </a:t>
                      </a:r>
                      <a:r>
                        <a:rPr lang="zh-CN" sz="1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系统在视频监控区显示“相机连接断开”提示；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Times New Roman" panose="02020603050405020304"/>
                          <a:ea typeface="Times New Roman" panose="02020603050405020304"/>
                        </a:rPr>
                        <a:t>2. </a:t>
                      </a:r>
                      <a:r>
                        <a:rPr lang="zh-CN" sz="1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系统记录相机连接失败的警告日志；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dirty="0">
                          <a:latin typeface="Times New Roman" panose="02020603050405020304"/>
                          <a:ea typeface="Times New Roman" panose="02020603050405020304"/>
                        </a:rPr>
                        <a:t>3. </a:t>
                      </a:r>
                      <a:r>
                        <a:rPr lang="zh-CN" sz="1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系统尝试自动重连相机；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操作员获知相机异常状态，系统尝试恢复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72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无进行中任务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当前无任何任务在执行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系统在任务状态区显示</a:t>
                      </a:r>
                      <a:r>
                        <a:rPr lang="zh-CN" altLang="en-US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“无进行中任务”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操作员获知当前无任务执行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571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功能需求</a:t>
            </a:r>
            <a:r>
              <a:rPr lang="en-US" altLang="zh-CN" sz="2400" b="1" dirty="0"/>
              <a:t>3</a:t>
            </a:r>
            <a:endParaRPr lang="zh-CN" altLang="en-US" sz="2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25603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/>
              <a:t>异常处理</a:t>
            </a:r>
            <a:r>
              <a:rPr lang="en-US" altLang="zh-CN" sz="2000" dirty="0"/>
              <a:t> </a:t>
            </a:r>
            <a:endParaRPr lang="zh-CN" altLang="en-US" sz="2000" dirty="0"/>
          </a:p>
          <a:p>
            <a:pPr algn="l"/>
            <a:r>
              <a:rPr lang="en-US" altLang="zh-CN" sz="2000" dirty="0"/>
              <a:t>- </a:t>
            </a:r>
            <a:r>
              <a:rPr lang="zh-CN" altLang="en-US" sz="2000" dirty="0"/>
              <a:t>主流程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462530" y="366395"/>
            <a:ext cx="8359140" cy="60610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 algn="just" fontAlgn="auto">
              <a:lnSpc>
                <a:spcPct val="170000"/>
              </a:lnSpc>
              <a:buFont typeface="+mj-lt"/>
              <a:buAutoNum type="arabicPeriod"/>
            </a:pPr>
            <a:r>
              <a:rPr lang="zh-CN" altLang="en-US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系统在执行任务过程中检测到异常事件发生。</a:t>
            </a:r>
          </a:p>
          <a:p>
            <a:pPr marL="342900" lvl="0" indent="-342900" algn="just" fontAlgn="auto">
              <a:lnSpc>
                <a:spcPct val="170000"/>
              </a:lnSpc>
              <a:buFont typeface="+mj-lt"/>
              <a:buAutoNum type="arabicPeriod"/>
            </a:pPr>
            <a:r>
              <a:rPr lang="zh-CN" altLang="en-US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系统根据异常类型执行对应处理：</a:t>
            </a:r>
          </a:p>
          <a:p>
            <a:pPr marL="800100" lvl="1" indent="-342900" algn="just" fontAlgn="auto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识别失败：记录日志，调整相机参数重试</a:t>
            </a:r>
            <a:r>
              <a:rPr lang="en-US" altLang="zh-CN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1</a:t>
            </a:r>
            <a:r>
              <a:rPr lang="zh-CN" altLang="en-US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次。重试成功则继续执行；重试失败则跳过当前货物，更新统计（失败数</a:t>
            </a:r>
            <a:r>
              <a:rPr lang="en-US" altLang="zh-CN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+1</a:t>
            </a:r>
            <a:r>
              <a:rPr lang="zh-CN" altLang="en-US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，已分拣数</a:t>
            </a:r>
            <a:r>
              <a:rPr lang="en-US" altLang="zh-CN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+1</a:t>
            </a:r>
            <a:r>
              <a:rPr lang="zh-CN" altLang="en-US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），继续处理下一个货物。</a:t>
            </a:r>
          </a:p>
          <a:p>
            <a:pPr marL="800100" lvl="1" indent="-342900" algn="just" fontAlgn="auto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抓取失败：记录日志，机械臂返回安全位置后重试</a:t>
            </a:r>
            <a:r>
              <a:rPr lang="en-US" altLang="zh-CN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1</a:t>
            </a:r>
            <a:r>
              <a:rPr lang="zh-CN" altLang="en-US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次。重试成功则继续执行；重试失败则跳过当前货物，更新统计，继续处理下一个货物。</a:t>
            </a:r>
            <a:endParaRPr lang="zh-CN" altLang="en-US" sz="1600" kern="100" dirty="0">
              <a:effectLst/>
              <a:latin typeface="YaHei Consolas Hybrid" panose="020B0503020204020204" pitchFamily="34" charset="-122"/>
              <a:ea typeface="YaHei Consolas Hybrid" panose="020B0503020204020204" pitchFamily="34" charset="-122"/>
            </a:endParaRPr>
          </a:p>
          <a:p>
            <a:pPr marL="800100" lvl="1" indent="-342900" algn="just" fontAlgn="auto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路径规划失败：记录日志，立即停止运动，将任务状态更新为</a:t>
            </a:r>
            <a:r>
              <a:rPr lang="en-US" altLang="zh-CN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“</a:t>
            </a:r>
            <a:r>
              <a:rPr lang="zh-CN" altLang="en-US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已暂停</a:t>
            </a:r>
            <a:r>
              <a:rPr lang="en-US" altLang="zh-CN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”</a:t>
            </a:r>
            <a:r>
              <a:rPr lang="zh-CN" altLang="en-US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，发出警报，等待操作员处理。</a:t>
            </a:r>
            <a:endParaRPr lang="zh-CN" altLang="en-US" sz="1600" kern="100" dirty="0">
              <a:effectLst/>
              <a:latin typeface="YaHei Consolas Hybrid" panose="020B0503020204020204" pitchFamily="34" charset="-122"/>
              <a:ea typeface="YaHei Consolas Hybrid" panose="020B0503020204020204" pitchFamily="34" charset="-122"/>
            </a:endParaRPr>
          </a:p>
          <a:p>
            <a:pPr marL="800100" lvl="1" indent="-342900" algn="just" fontAlgn="auto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设备异常：记录日志，立即紧急停止，将任务状态更新为</a:t>
            </a:r>
            <a:r>
              <a:rPr lang="en-US" altLang="zh-CN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“</a:t>
            </a:r>
            <a:r>
              <a:rPr lang="zh-CN" altLang="en-US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已中止</a:t>
            </a:r>
            <a:r>
              <a:rPr lang="en-US" altLang="zh-CN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”</a:t>
            </a:r>
            <a:r>
              <a:rPr lang="zh-CN" altLang="en-US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，显示设备异常信息，禁止启动新任务直至异常解决。</a:t>
            </a:r>
            <a:endParaRPr lang="zh-CN" altLang="en-US" sz="1600" kern="100" dirty="0">
              <a:effectLst/>
              <a:latin typeface="YaHei Consolas Hybrid" panose="020B0503020204020204" pitchFamily="34" charset="-122"/>
              <a:ea typeface="YaHei Consolas Hybrid" panose="020B0503020204020204" pitchFamily="34" charset="-122"/>
            </a:endParaRPr>
          </a:p>
          <a:p>
            <a:pPr marL="800100" lvl="1" indent="-342900" algn="just" fontAlgn="auto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紧急停止：操作员按下急停按钮，立即切断动力停止所有运动，记录日志，将任务状态更新为</a:t>
            </a:r>
            <a:r>
              <a:rPr lang="en-US" altLang="zh-CN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“</a:t>
            </a:r>
            <a:r>
              <a:rPr lang="zh-CN" altLang="en-US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已中止</a:t>
            </a:r>
            <a:r>
              <a:rPr lang="en-US" altLang="zh-CN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”</a:t>
            </a:r>
            <a:r>
              <a:rPr lang="zh-CN" altLang="en-US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  <a:sym typeface="+mn-ea"/>
              </a:rPr>
              <a:t>。</a:t>
            </a:r>
            <a:endParaRPr lang="zh-CN" altLang="en-US" sz="1600" kern="100" dirty="0">
              <a:effectLst/>
              <a:latin typeface="YaHei Consolas Hybrid" panose="020B0503020204020204" pitchFamily="34" charset="-122"/>
              <a:ea typeface="YaHei Consolas Hybrid" panose="020B0503020204020204" pitchFamily="34" charset="-122"/>
            </a:endParaRPr>
          </a:p>
          <a:p>
            <a:pPr lvl="0" indent="0" algn="just" fontAlgn="auto">
              <a:lnSpc>
                <a:spcPct val="170000"/>
              </a:lnSpc>
              <a:buFont typeface="+mj-lt"/>
              <a:buNone/>
            </a:pPr>
            <a:r>
              <a:rPr lang="zh-CN" altLang="en-US" sz="1600" b="1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后置条件</a:t>
            </a:r>
            <a:r>
              <a:rPr lang="zh-CN" altLang="en-US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：轻量异常（抓取</a:t>
            </a:r>
            <a:r>
              <a:rPr lang="en-US" altLang="zh-CN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/</a:t>
            </a:r>
            <a:r>
              <a:rPr lang="zh-CN" altLang="en-US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识别失败）被跳过处理，任务继续执行；严重异常（路径受阻</a:t>
            </a:r>
            <a:r>
              <a:rPr lang="en-US" altLang="zh-CN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/</a:t>
            </a:r>
            <a:r>
              <a:rPr lang="zh-CN" altLang="en-US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设备异常</a:t>
            </a:r>
            <a:r>
              <a:rPr lang="en-US" altLang="zh-CN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/</a:t>
            </a:r>
            <a:r>
              <a:rPr lang="zh-CN" altLang="en-US" sz="16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急停）导致任务暂停或中止，系统进入安全状态。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571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功能需求</a:t>
            </a:r>
            <a:r>
              <a:rPr lang="en-US" altLang="zh-CN" sz="2400" b="1" dirty="0"/>
              <a:t>3</a:t>
            </a:r>
            <a:endParaRPr lang="zh-CN" altLang="en-US" sz="2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6033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/>
              <a:t>异常处理</a:t>
            </a:r>
            <a:r>
              <a:rPr lang="en-US" altLang="zh-CN" sz="2000" dirty="0"/>
              <a:t> </a:t>
            </a:r>
            <a:endParaRPr lang="zh-CN" altLang="en-US" sz="2000" dirty="0"/>
          </a:p>
          <a:p>
            <a:pPr algn="l"/>
            <a:r>
              <a:rPr lang="en-US" altLang="zh-CN" sz="2000" dirty="0"/>
              <a:t>- </a:t>
            </a:r>
            <a:r>
              <a:rPr lang="zh-CN" altLang="en-US" sz="2000" dirty="0"/>
              <a:t>分支流图表</a:t>
            </a:r>
          </a:p>
        </p:txBody>
      </p:sp>
      <p:graphicFrame>
        <p:nvGraphicFramePr>
          <p:cNvPr id="3" name="表格 2"/>
          <p:cNvGraphicFramePr/>
          <p:nvPr>
            <p:extLst>
              <p:ext uri="{D42A27DB-BD31-4B8C-83A1-F6EECF244321}">
                <p14:modId xmlns:p14="http://schemas.microsoft.com/office/powerpoint/2010/main" val="1050770607"/>
              </p:ext>
            </p:extLst>
          </p:nvPr>
        </p:nvGraphicFramePr>
        <p:xfrm>
          <a:off x="2821622" y="1411605"/>
          <a:ext cx="6853555" cy="3711894"/>
        </p:xfrm>
        <a:graphic>
          <a:graphicData uri="http://schemas.openxmlformats.org/drawingml/2006/table">
            <a:tbl>
              <a:tblPr/>
              <a:tblGrid>
                <a:gridCol w="620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3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31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分支编号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分支名称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前置</a:t>
                      </a:r>
                      <a:r>
                        <a:rPr lang="zh-CN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条件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处理流程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后置条件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操作员恢复任务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任务因路径规划失败而暂停，操作员已清理障碍物后点击</a:t>
                      </a:r>
                      <a:r>
                        <a:rPr lang="zh-CN" altLang="en-US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“恢复任务”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1. 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系统重新尝试路径规划；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2. 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规划成功则任务恢复执行，状态变更为“执行中”；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3. 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规划仍失败则再次暂停并提示操作员；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任务恢复执行或继续等待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操作员解除急停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紧急停止触发后，操作员手动解除急停状态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1. 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系统检测到急停已解除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2. 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系统进入待机状态，等待操作员启动新任务</a:t>
                      </a:r>
                      <a:r>
                        <a:rPr lang="zh-CN" altLang="en-US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	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系统恢复待机状态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571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功能需求</a:t>
            </a:r>
            <a:r>
              <a:rPr lang="en-US" altLang="zh-CN" sz="2400" b="1" dirty="0"/>
              <a:t>4</a:t>
            </a:r>
            <a:endParaRPr lang="zh-CN" altLang="en-US" sz="2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96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/>
              <a:t>货物分拣与码垛</a:t>
            </a:r>
          </a:p>
          <a:p>
            <a:pPr algn="l"/>
            <a:r>
              <a:rPr lang="en-US" altLang="zh-CN" sz="2000" dirty="0"/>
              <a:t>- </a:t>
            </a:r>
            <a:r>
              <a:rPr lang="zh-CN" altLang="en-US" sz="2000" dirty="0"/>
              <a:t>主流程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813685" y="74930"/>
            <a:ext cx="8073390" cy="67830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 algn="just" fontAlgn="auto">
              <a:lnSpc>
                <a:spcPct val="170000"/>
              </a:lnSpc>
              <a:buFont typeface="+mj-lt"/>
              <a:buAutoNum type="arabicPeriod"/>
            </a:pPr>
            <a:r>
              <a:rPr lang="zh-CN" altLang="en-US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系统在堆放区执行货物识别：控制视觉模块驱动相机拍摄图像，并使用目标检测算法识别视野内货物，确定货物类型（本色纸盒</a:t>
            </a:r>
            <a:r>
              <a:rPr lang="en-US" altLang="zh-CN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/</a:t>
            </a:r>
            <a:r>
              <a:rPr lang="zh-CN" altLang="en-US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彩色纸箱）及其图像位置。若识别到多个货物，系统结合识别置信度、遮挡程度和抓取可达性，选择一个货物作为当前处理目标。</a:t>
            </a:r>
            <a:endParaRPr lang="en-US" altLang="zh-CN" sz="1400" kern="100" dirty="0">
              <a:effectLst/>
              <a:latin typeface="YaHei Consolas Hybrid" panose="020B0503020204020204" pitchFamily="34" charset="-122"/>
              <a:ea typeface="YaHei Consolas Hybrid" panose="020B0503020204020204" pitchFamily="34" charset="-122"/>
            </a:endParaRPr>
          </a:p>
          <a:p>
            <a:pPr marL="342900" lvl="0" indent="-342900" algn="just" fontAlgn="auto">
              <a:lnSpc>
                <a:spcPct val="170000"/>
              </a:lnSpc>
              <a:buFont typeface="+mj-lt"/>
              <a:buAutoNum type="arabicPeriod"/>
            </a:pPr>
            <a:r>
              <a:rPr lang="zh-CN" altLang="en-US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系统对当前目标货物执行定位与体积计算：深度相机获取目标货物的深度信息，系统利用相机内参将图像坐标转换为相机坐标系下的三维坐标，再利用手眼标定矩阵将其转换为机器人基坐标系下的坐标（</a:t>
            </a:r>
            <a:r>
              <a:rPr lang="en-US" altLang="zh-CN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X</a:t>
            </a:r>
            <a:r>
              <a:rPr lang="zh-CN" altLang="en-US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，</a:t>
            </a:r>
            <a:r>
              <a:rPr lang="en-US" altLang="zh-CN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Y</a:t>
            </a:r>
            <a:r>
              <a:rPr lang="zh-CN" altLang="en-US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，</a:t>
            </a:r>
            <a:r>
              <a:rPr lang="en-US" altLang="zh-CN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Z</a:t>
            </a:r>
            <a:r>
              <a:rPr lang="zh-CN" altLang="en-US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）；同时根据目标货物的点云数据计算货物的长、宽、高和体积，并记录体积数据用于后续码垛规划。</a:t>
            </a:r>
            <a:endParaRPr lang="en-US" altLang="zh-CN" sz="1400" kern="100" dirty="0">
              <a:effectLst/>
              <a:latin typeface="YaHei Consolas Hybrid" panose="020B0503020204020204" pitchFamily="34" charset="-122"/>
              <a:ea typeface="YaHei Consolas Hybrid" panose="020B0503020204020204" pitchFamily="34" charset="-122"/>
            </a:endParaRPr>
          </a:p>
          <a:p>
            <a:pPr marL="342900" lvl="0" indent="-342900" algn="just" fontAlgn="auto">
              <a:lnSpc>
                <a:spcPct val="170000"/>
              </a:lnSpc>
              <a:buFont typeface="+mj-lt"/>
              <a:buAutoNum type="arabicPeriod"/>
            </a:pPr>
            <a:r>
              <a:rPr lang="zh-CN" altLang="en-US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系统执行抓取规划与抓取操作：将目标抓取点坐标发送给系统，系统结合机械臂当前姿态和环境模型规划无碰撞轨迹，机械臂沿规划轨迹运动到抓取点，控制夹爪闭合完成抓取，并由力传感器反馈抓取成功状态。</a:t>
            </a:r>
            <a:endParaRPr lang="en-US" altLang="zh-CN" sz="1400" kern="100" dirty="0">
              <a:effectLst/>
              <a:latin typeface="YaHei Consolas Hybrid" panose="020B0503020204020204" pitchFamily="34" charset="-122"/>
              <a:ea typeface="YaHei Consolas Hybrid" panose="020B0503020204020204" pitchFamily="34" charset="-122"/>
            </a:endParaRPr>
          </a:p>
          <a:p>
            <a:pPr marL="342900" lvl="0" indent="-342900" algn="just" fontAlgn="auto">
              <a:lnSpc>
                <a:spcPct val="170000"/>
              </a:lnSpc>
              <a:buFont typeface="+mj-lt"/>
              <a:buAutoNum type="arabicPeriod"/>
            </a:pPr>
            <a:r>
              <a:rPr lang="zh-CN" altLang="en-US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系统执行码垛规划与码垛操作：根据货物类型选择对应目标区（本色纸盒</a:t>
            </a:r>
            <a:r>
              <a:rPr lang="en-US" altLang="en-US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→</a:t>
            </a:r>
            <a:r>
              <a:rPr lang="en-US" altLang="zh-CN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B</a:t>
            </a:r>
            <a:r>
              <a:rPr lang="zh-CN" altLang="en-US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区，彩色纸箱</a:t>
            </a:r>
            <a:r>
              <a:rPr lang="en-US" altLang="en-US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→</a:t>
            </a:r>
            <a:r>
              <a:rPr lang="en-US" altLang="zh-CN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C</a:t>
            </a:r>
            <a:r>
              <a:rPr lang="zh-CN" altLang="en-US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区），查询目标区的码垛位置管理模块获取下一个放置点坐标，规划从抓取点到放置点的运动轨迹，机械臂运动到放置点上方并调整姿态，随后张开夹爪平稳放置货物。</a:t>
            </a:r>
            <a:endParaRPr lang="en-US" altLang="zh-CN" sz="1400" kern="100" dirty="0">
              <a:effectLst/>
              <a:latin typeface="YaHei Consolas Hybrid" panose="020B0503020204020204" pitchFamily="34" charset="-122"/>
              <a:ea typeface="YaHei Consolas Hybrid" panose="020B0503020204020204" pitchFamily="34" charset="-122"/>
            </a:endParaRPr>
          </a:p>
          <a:p>
            <a:pPr marL="342900" lvl="0" indent="-342900" algn="just" fontAlgn="auto">
              <a:lnSpc>
                <a:spcPct val="170000"/>
              </a:lnSpc>
              <a:buFont typeface="+mj-lt"/>
              <a:buAutoNum type="arabicPeriod"/>
            </a:pPr>
            <a:r>
              <a:rPr lang="zh-CN" altLang="en-US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系统执行状态更新：更新目标区码垛状态（当前层数、下一放置点），更新任务管理模块统计信息（成功数</a:t>
            </a:r>
            <a:r>
              <a:rPr lang="en-US" altLang="zh-CN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+1</a:t>
            </a:r>
            <a:r>
              <a:rPr lang="zh-CN" altLang="en-US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，已分拣数</a:t>
            </a:r>
            <a:r>
              <a:rPr lang="en-US" altLang="zh-CN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+1</a:t>
            </a:r>
            <a:r>
              <a:rPr lang="zh-CN" altLang="en-US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），并记录本次操作日志。</a:t>
            </a:r>
            <a:endParaRPr lang="en-US" altLang="zh-CN" sz="1400" kern="100" dirty="0">
              <a:effectLst/>
              <a:latin typeface="YaHei Consolas Hybrid" panose="020B0503020204020204" pitchFamily="34" charset="-122"/>
              <a:ea typeface="YaHei Consolas Hybrid" panose="020B0503020204020204" pitchFamily="34" charset="-122"/>
            </a:endParaRPr>
          </a:p>
          <a:p>
            <a:pPr marL="342900" lvl="0" indent="-342900" algn="just" fontAlgn="auto">
              <a:lnSpc>
                <a:spcPct val="170000"/>
              </a:lnSpc>
              <a:buFont typeface="+mj-lt"/>
              <a:buAutoNum type="arabicPeriod"/>
            </a:pPr>
            <a:r>
              <a:rPr lang="zh-CN" altLang="en-US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系统重复执行步骤</a:t>
            </a:r>
            <a:r>
              <a:rPr lang="en-US" altLang="zh-CN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1</a:t>
            </a:r>
            <a:r>
              <a:rPr lang="zh-CN" altLang="en-US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～</a:t>
            </a:r>
            <a:r>
              <a:rPr lang="en-US" altLang="zh-CN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5</a:t>
            </a:r>
            <a:r>
              <a:rPr lang="zh-CN" altLang="en-US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，直到满足以下任一条件：已处理货物总数（成功数</a:t>
            </a:r>
            <a:r>
              <a:rPr lang="en-US" altLang="zh-CN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+</a:t>
            </a:r>
            <a:r>
              <a:rPr lang="zh-CN" altLang="en-US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失败数）达到任务目标总数；操作员中止任务；系统进入不可恢复异常状态并终止任务。</a:t>
            </a:r>
            <a:endParaRPr lang="en-US" altLang="zh-CN" sz="1400" kern="100" dirty="0">
              <a:effectLst/>
              <a:latin typeface="YaHei Consolas Hybrid" panose="020B0503020204020204" pitchFamily="34" charset="-122"/>
              <a:ea typeface="YaHei Consolas Hybrid" panose="020B0503020204020204" pitchFamily="34" charset="-122"/>
            </a:endParaRPr>
          </a:p>
          <a:p>
            <a:pPr lvl="0" indent="0" algn="just" fontAlgn="auto">
              <a:lnSpc>
                <a:spcPct val="170000"/>
              </a:lnSpc>
              <a:buFont typeface="+mj-lt"/>
              <a:buNone/>
            </a:pPr>
            <a:r>
              <a:rPr lang="zh-CN" altLang="en-US" sz="1400" b="1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后置条件</a:t>
            </a:r>
            <a:r>
              <a:rPr lang="zh-CN" altLang="en-US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：所有货物被成功识别、定位、抓取并码垛至目标区，任务状态更新为</a:t>
            </a:r>
            <a:r>
              <a:rPr lang="en-US" altLang="zh-CN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“</a:t>
            </a:r>
            <a:r>
              <a:rPr lang="zh-CN" altLang="en-US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已完成</a:t>
            </a:r>
            <a:r>
              <a:rPr lang="en-US" altLang="zh-CN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”</a:t>
            </a:r>
            <a:r>
              <a:rPr lang="zh-CN" altLang="en-US" sz="1400" kern="100" dirty="0">
                <a:effectLst/>
                <a:latin typeface="YaHei Consolas Hybrid" panose="020B0503020204020204" pitchFamily="34" charset="-122"/>
                <a:ea typeface="YaHei Consolas Hybrid" panose="020B0503020204020204" pitchFamily="34" charset="-122"/>
              </a:rPr>
              <a:t>。</a:t>
            </a:r>
          </a:p>
          <a:p>
            <a:pPr lvl="0" indent="0" algn="just">
              <a:lnSpc>
                <a:spcPct val="150000"/>
              </a:lnSpc>
              <a:buFont typeface="+mj-lt"/>
              <a:buNone/>
            </a:pPr>
            <a:endParaRPr lang="zh-CN" altLang="en-US" sz="1400" kern="100" dirty="0">
              <a:effectLst/>
              <a:latin typeface="YaHei Consolas Hybrid" panose="020B0503020204020204" pitchFamily="34" charset="-122"/>
              <a:ea typeface="YaHei Consolas Hybrid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571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功能需求</a:t>
            </a:r>
            <a:r>
              <a:rPr lang="en-US" altLang="zh-CN" sz="2400" b="1" dirty="0"/>
              <a:t>4</a:t>
            </a:r>
            <a:endParaRPr lang="zh-CN" altLang="en-US" sz="2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96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/>
              <a:t>货物分拣与码垛</a:t>
            </a:r>
          </a:p>
          <a:p>
            <a:pPr algn="l"/>
            <a:r>
              <a:rPr lang="en-US" altLang="zh-CN" sz="2000" dirty="0"/>
              <a:t>- </a:t>
            </a:r>
            <a:r>
              <a:rPr lang="zh-CN" altLang="en-US" sz="2000" dirty="0"/>
              <a:t>分支流图表</a:t>
            </a: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4002140"/>
              </p:ext>
            </p:extLst>
          </p:nvPr>
        </p:nvGraphicFramePr>
        <p:xfrm>
          <a:off x="2602230" y="85725"/>
          <a:ext cx="9060180" cy="6680835"/>
        </p:xfrm>
        <a:graphic>
          <a:graphicData uri="http://schemas.openxmlformats.org/drawingml/2006/table">
            <a:tbl>
              <a:tblPr/>
              <a:tblGrid>
                <a:gridCol w="575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4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4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2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355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编号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名称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前置</a:t>
                      </a:r>
                      <a:r>
                        <a:rPr lang="zh-CN" sz="10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条件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处理流程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后置条件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935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货物识别失败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未检测到任何货物，或所有检测结果置信度低于阈值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1.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系统记录识别失败日志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2.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系统控制相机调整曝光参数，重新拍摄识别（最多</a:t>
                      </a: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次）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3.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重试成功则返回主流程步骤</a:t>
                      </a: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4.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重试失败则更新统计（失败数</a:t>
                      </a: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+1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，已分拣数</a:t>
                      </a: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+1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），记录“识别失败，已跳过”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识别失败的货物被跳过，系统继续执行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859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抓取失败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夹爪闭合后未抓到货物，或搬运过程中货物滑落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1.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系统记录抓取失败日志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2.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机械臂返回安全位置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3.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系统尝试重试抓取（最多</a:t>
                      </a: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次）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4.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重试成功则返回主流程步骤</a:t>
                      </a: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000"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5.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重试失败则更新统计（失败数</a:t>
                      </a: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+1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，已分拣数</a:t>
                      </a: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+1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），显示“抓取失败，已跳过”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抓取失败的货物被跳过，系统继续执行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999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3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路径规划失败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系统无法规划出无碰撞路径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1.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系统记录路径规划失败日志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2.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系统立即向机器人发送停止指令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3.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系统将任务状态更新为“已暂停”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4.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系统显示“路径规划失败，请检查工作区”警报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任务暂停，系统等待操作员干预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935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4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任务完成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已处理货物数达到目标货物总数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1.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系统将任务状态更新为“已完成”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2.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系统记录结束时间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3.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系统显示“任务完成”提示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4.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系统展示任务统计摘要（总数、成功数、失败数、耗时）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任务状态为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“已完成”，系统待机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999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5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堆放区无货物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堆放区未检测到可处理货物，且已分拣数尚未达到目标总数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1.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系统记录“堆放区无货物”警告日志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2.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系统显示“堆放区无货物，请补充”提示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3.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系统将任务状态更新为“已暂停”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Times New Roman" panose="02020603050405020304"/>
                          <a:ea typeface="Times New Roman" panose="02020603050405020304"/>
                        </a:rPr>
                        <a:t>4. 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系统等待操作员补充货物后恢复任务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任务暂停，等待操作员补充货物</a:t>
                      </a:r>
                    </a:p>
                  </a:txBody>
                  <a:tcPr marL="137160" marR="137160" marT="137160" marB="13716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/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 dirty="0">
                <a:solidFill>
                  <a:srgbClr val="0E60A8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</a:p>
        </p:txBody>
      </p:sp>
      <p:sp>
        <p:nvSpPr>
          <p:cNvPr id="11" name="矩形 10"/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非功能需求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性能与准确性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2734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performance &amp; accuracy</a:t>
            </a:r>
            <a:endParaRPr lang="zh-CN" altLang="en-US" sz="2000" dirty="0"/>
          </a:p>
        </p:txBody>
      </p:sp>
      <p:sp>
        <p:nvSpPr>
          <p:cNvPr id="2" name="矩形: 圆角 1"/>
          <p:cNvSpPr/>
          <p:nvPr/>
        </p:nvSpPr>
        <p:spPr>
          <a:xfrm>
            <a:off x="811480" y="1513931"/>
            <a:ext cx="3151580" cy="4500880"/>
          </a:xfrm>
          <a:prstGeom prst="roundRect">
            <a:avLst>
              <a:gd name="adj" fmla="val 1324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/>
          <p:cNvSpPr/>
          <p:nvPr/>
        </p:nvSpPr>
        <p:spPr>
          <a:xfrm>
            <a:off x="4674259" y="1513931"/>
            <a:ext cx="3151580" cy="4500880"/>
          </a:xfrm>
          <a:prstGeom prst="roundRect">
            <a:avLst>
              <a:gd name="adj" fmla="val 1324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9"/>
          <p:cNvSpPr/>
          <p:nvPr/>
        </p:nvSpPr>
        <p:spPr>
          <a:xfrm>
            <a:off x="8537038" y="1513931"/>
            <a:ext cx="3151580" cy="4500880"/>
          </a:xfrm>
          <a:prstGeom prst="roundRect">
            <a:avLst>
              <a:gd name="adj" fmla="val 1324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512793" y="1682220"/>
            <a:ext cx="17367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识别响应时间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382170" y="169175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定位响应时间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251053" y="1680187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路径规划时间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38479" y="2086790"/>
            <a:ext cx="288537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识别响应时间在</a:t>
            </a:r>
            <a:r>
              <a:rPr lang="en-US" altLang="zh-CN" b="1" dirty="0">
                <a:solidFill>
                  <a:srgbClr val="2931D5"/>
                </a:solidFill>
              </a:rPr>
              <a:t>0.5</a:t>
            </a:r>
            <a:r>
              <a:rPr lang="zh-CN" altLang="en-US" b="1" dirty="0">
                <a:solidFill>
                  <a:srgbClr val="2931D5"/>
                </a:solidFill>
              </a:rPr>
              <a:t>秒内</a:t>
            </a:r>
            <a:r>
              <a:rPr lang="zh-CN" altLang="en-US" sz="1600" dirty="0"/>
              <a:t>作出响应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938479" y="3955240"/>
            <a:ext cx="2885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货物识别与分类准确率</a:t>
            </a:r>
            <a:r>
              <a:rPr lang="zh-CN" altLang="en-US" b="1" dirty="0">
                <a:solidFill>
                  <a:srgbClr val="2931D5"/>
                </a:solidFill>
              </a:rPr>
              <a:t>不低于</a:t>
            </a:r>
            <a:r>
              <a:rPr lang="en-US" altLang="zh-CN" b="1" dirty="0">
                <a:solidFill>
                  <a:srgbClr val="2931D5"/>
                </a:solidFill>
              </a:rPr>
              <a:t>90%</a:t>
            </a:r>
            <a:endParaRPr lang="zh-CN" altLang="en-US" b="1" dirty="0">
              <a:solidFill>
                <a:srgbClr val="2931D5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38479" y="2644504"/>
            <a:ext cx="2885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极端条件下，响应时间</a:t>
            </a:r>
            <a:r>
              <a:rPr lang="zh-CN" altLang="en-US" b="1" dirty="0">
                <a:solidFill>
                  <a:srgbClr val="2931D5"/>
                </a:solidFill>
              </a:rPr>
              <a:t>不超过</a:t>
            </a:r>
            <a:r>
              <a:rPr lang="en-US" altLang="zh-CN" b="1" dirty="0">
                <a:solidFill>
                  <a:srgbClr val="2931D5"/>
                </a:solidFill>
              </a:rPr>
              <a:t>1</a:t>
            </a:r>
            <a:r>
              <a:rPr lang="zh-CN" altLang="en-US" b="1" dirty="0">
                <a:solidFill>
                  <a:srgbClr val="2931D5"/>
                </a:solidFill>
              </a:rPr>
              <a:t>秒钟</a:t>
            </a:r>
            <a:endParaRPr lang="zh-CN" altLang="en-US" sz="1600" b="1" dirty="0">
              <a:solidFill>
                <a:srgbClr val="2931D5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38479" y="3404182"/>
            <a:ext cx="288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通过</a:t>
            </a:r>
            <a:r>
              <a:rPr lang="en-US" altLang="zh-CN" b="1" dirty="0">
                <a:solidFill>
                  <a:srgbClr val="2931D5"/>
                </a:solidFill>
              </a:rPr>
              <a:t>50</a:t>
            </a:r>
            <a:r>
              <a:rPr lang="zh-CN" altLang="en-US" b="1" dirty="0">
                <a:solidFill>
                  <a:srgbClr val="2931D5"/>
                </a:solidFill>
              </a:rPr>
              <a:t>次</a:t>
            </a:r>
            <a:r>
              <a:rPr lang="zh-CN" altLang="en-US" sz="1600" dirty="0"/>
              <a:t>识别求平均识别时长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801258" y="2127511"/>
            <a:ext cx="288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应该在</a:t>
            </a:r>
            <a:r>
              <a:rPr lang="en-US" altLang="zh-CN" b="1" dirty="0">
                <a:solidFill>
                  <a:srgbClr val="2931D5"/>
                </a:solidFill>
              </a:rPr>
              <a:t>0.5</a:t>
            </a:r>
            <a:r>
              <a:rPr lang="zh-CN" altLang="en-US" b="1" dirty="0">
                <a:solidFill>
                  <a:srgbClr val="2931D5"/>
                </a:solidFill>
              </a:rPr>
              <a:t>秒内</a:t>
            </a:r>
            <a:r>
              <a:rPr lang="zh-CN" altLang="en-US" sz="1600" dirty="0"/>
              <a:t>完成定位任务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801258" y="2532489"/>
            <a:ext cx="2885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600" dirty="0">
                <a:solidFill>
                  <a:srgbClr val="181A1E"/>
                </a:solidFill>
                <a:effectLst/>
                <a:latin typeface="+mn-ea"/>
              </a:rPr>
              <a:t>复杂任务条件下，定位时间</a:t>
            </a:r>
            <a:r>
              <a:rPr lang="zh-CN" altLang="en-US" b="1" dirty="0">
                <a:solidFill>
                  <a:srgbClr val="2931D5"/>
                </a:solidFill>
              </a:rPr>
              <a:t>不超过</a:t>
            </a:r>
            <a:r>
              <a:rPr lang="en-US" altLang="zh-CN" b="1" dirty="0">
                <a:solidFill>
                  <a:srgbClr val="2931D5"/>
                </a:solidFill>
              </a:rPr>
              <a:t>1</a:t>
            </a:r>
            <a:r>
              <a:rPr lang="zh-CN" altLang="en-US" b="1" dirty="0">
                <a:solidFill>
                  <a:srgbClr val="2931D5"/>
                </a:solidFill>
              </a:rPr>
              <a:t>秒钟</a:t>
            </a:r>
            <a:endParaRPr lang="zh-CN" altLang="en-US" b="1" dirty="0">
              <a:solidFill>
                <a:srgbClr val="2931D5"/>
              </a:solidFill>
              <a:effectLst/>
              <a:latin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01258" y="3242498"/>
            <a:ext cx="274595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通过</a:t>
            </a:r>
            <a:r>
              <a:rPr lang="en-US" altLang="zh-CN" b="1" dirty="0">
                <a:solidFill>
                  <a:srgbClr val="2931D5"/>
                </a:solidFill>
              </a:rPr>
              <a:t>50</a:t>
            </a:r>
            <a:r>
              <a:rPr lang="zh-CN" altLang="en-US" b="1" dirty="0">
                <a:solidFill>
                  <a:srgbClr val="2931D5"/>
                </a:solidFill>
              </a:rPr>
              <a:t>次</a:t>
            </a:r>
            <a:r>
              <a:rPr lang="zh-CN" altLang="en-US" sz="1600" dirty="0"/>
              <a:t>定位求平均定位时长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664037" y="2127511"/>
            <a:ext cx="288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路径规划时间</a:t>
            </a:r>
            <a:r>
              <a:rPr lang="zh-CN" altLang="en-US" b="1" dirty="0">
                <a:solidFill>
                  <a:srgbClr val="2931D5"/>
                </a:solidFill>
              </a:rPr>
              <a:t>不超过</a:t>
            </a:r>
            <a:r>
              <a:rPr lang="en-US" altLang="zh-CN" b="1" dirty="0">
                <a:solidFill>
                  <a:srgbClr val="2931D5"/>
                </a:solidFill>
              </a:rPr>
              <a:t>1</a:t>
            </a:r>
            <a:r>
              <a:rPr lang="zh-CN" altLang="en-US" b="1">
                <a:solidFill>
                  <a:srgbClr val="2931D5"/>
                </a:solidFill>
              </a:rPr>
              <a:t>秒钟</a:t>
            </a:r>
            <a:endParaRPr lang="zh-CN" altLang="en-US" b="1" dirty="0">
              <a:solidFill>
                <a:srgbClr val="2931D5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664037" y="2659892"/>
            <a:ext cx="288537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通过</a:t>
            </a:r>
            <a:r>
              <a:rPr lang="en-US" altLang="zh-CN" b="1" dirty="0">
                <a:solidFill>
                  <a:srgbClr val="2931D5"/>
                </a:solidFill>
              </a:rPr>
              <a:t>50</a:t>
            </a:r>
            <a:r>
              <a:rPr lang="zh-CN" altLang="en-US" b="1" dirty="0">
                <a:solidFill>
                  <a:srgbClr val="2931D5"/>
                </a:solidFill>
              </a:rPr>
              <a:t>次</a:t>
            </a:r>
            <a:r>
              <a:rPr lang="zh-CN" altLang="en-US" sz="1600" dirty="0"/>
              <a:t>路径规划求平均定位时长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8670139" y="3365608"/>
            <a:ext cx="288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600" dirty="0">
                <a:solidFill>
                  <a:srgbClr val="000000"/>
                </a:solidFill>
                <a:effectLst/>
                <a:latin typeface="+mn-ea"/>
              </a:rPr>
              <a:t>与</a:t>
            </a:r>
            <a:r>
              <a:rPr lang="zh-CN" altLang="zh-CN" b="1" dirty="0">
                <a:solidFill>
                  <a:srgbClr val="2931D5"/>
                </a:solidFill>
              </a:rPr>
              <a:t>码垛规划与执行</a:t>
            </a:r>
            <a:r>
              <a:rPr lang="zh-CN" altLang="en-US" sz="1600" dirty="0"/>
              <a:t>相关</a:t>
            </a:r>
            <a:endParaRPr lang="zh-CN" altLang="en-US" sz="1600" dirty="0">
              <a:solidFill>
                <a:srgbClr val="000000"/>
              </a:solidFill>
              <a:effectLst/>
              <a:latin typeface="+mn-ea"/>
            </a:endParaRPr>
          </a:p>
        </p:txBody>
      </p:sp>
      <p:pic>
        <p:nvPicPr>
          <p:cNvPr id="45" name="图形 44">
            <a:extLst>
              <a:ext uri="{FF2B5EF4-FFF2-40B4-BE49-F238E27FC236}">
                <a16:creationId xmlns:a16="http://schemas.microsoft.com/office/drawing/2014/main" id="{8F3483BB-9190-42A4-08EB-EDE09C2BDF84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85944" y="4537284"/>
            <a:ext cx="1116000" cy="1116000"/>
          </a:xfrm>
          <a:prstGeom prst="rect">
            <a:avLst/>
          </a:prstGeom>
        </p:spPr>
      </p:pic>
      <p:pic>
        <p:nvPicPr>
          <p:cNvPr id="47" name="图形 46">
            <a:extLst>
              <a:ext uri="{FF2B5EF4-FFF2-40B4-BE49-F238E27FC236}">
                <a16:creationId xmlns:a16="http://schemas.microsoft.com/office/drawing/2014/main" id="{09C4DF48-CD6A-0DDC-1E93-97003C76C1E7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3166" y="4538491"/>
            <a:ext cx="1116000" cy="1116000"/>
          </a:xfrm>
          <a:prstGeom prst="rect">
            <a:avLst/>
          </a:prstGeom>
        </p:spPr>
      </p:pic>
      <p:pic>
        <p:nvPicPr>
          <p:cNvPr id="51" name="图形 50">
            <a:extLst>
              <a:ext uri="{FF2B5EF4-FFF2-40B4-BE49-F238E27FC236}">
                <a16:creationId xmlns:a16="http://schemas.microsoft.com/office/drawing/2014/main" id="{8D2E92FF-2BFF-168D-3D2A-DDB743933E8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54826" y="4537284"/>
            <a:ext cx="1116000" cy="1116000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342F3710-3CE3-CE5A-1F02-10ECFD7AB694}"/>
              </a:ext>
            </a:extLst>
          </p:cNvPr>
          <p:cNvSpPr txBox="1"/>
          <p:nvPr/>
        </p:nvSpPr>
        <p:spPr>
          <a:xfrm>
            <a:off x="4801258" y="3890953"/>
            <a:ext cx="2885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货物定位误差</a:t>
            </a:r>
            <a:r>
              <a:rPr lang="zh-CN" altLang="en-US" b="1" dirty="0">
                <a:solidFill>
                  <a:srgbClr val="2931D5"/>
                </a:solidFill>
              </a:rPr>
              <a:t>小于</a:t>
            </a:r>
            <a:r>
              <a:rPr lang="en-US" altLang="zh-CN" b="1" dirty="0">
                <a:solidFill>
                  <a:srgbClr val="2931D5"/>
                </a:solidFill>
              </a:rPr>
              <a:t>5cm</a:t>
            </a:r>
            <a:r>
              <a:rPr lang="en-US" altLang="zh-CN" sz="1600" dirty="0"/>
              <a:t>,</a:t>
            </a:r>
            <a:r>
              <a:rPr lang="zh-CN" altLang="en-US" sz="1600" dirty="0"/>
              <a:t>抓取成功率</a:t>
            </a:r>
            <a:r>
              <a:rPr lang="zh-CN" altLang="en-US" b="1" dirty="0">
                <a:solidFill>
                  <a:srgbClr val="2931D5"/>
                </a:solidFill>
              </a:rPr>
              <a:t>高于</a:t>
            </a:r>
            <a:r>
              <a:rPr lang="en-US" altLang="zh-CN" b="1" dirty="0">
                <a:solidFill>
                  <a:srgbClr val="2931D5"/>
                </a:solidFill>
              </a:rPr>
              <a:t>90%</a:t>
            </a:r>
            <a:endParaRPr lang="zh-CN" altLang="en-US" b="1" dirty="0">
              <a:solidFill>
                <a:srgbClr val="2931D5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58C2EB3-E42B-44BA-DD0C-752A2080386B}"/>
              </a:ext>
            </a:extLst>
          </p:cNvPr>
          <p:cNvSpPr txBox="1"/>
          <p:nvPr/>
        </p:nvSpPr>
        <p:spPr>
          <a:xfrm>
            <a:off x="8670139" y="3951446"/>
            <a:ext cx="288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/>
              <a:t>码垛位置误差</a:t>
            </a:r>
            <a:r>
              <a:rPr lang="zh-CN" altLang="en-US" b="1" dirty="0">
                <a:solidFill>
                  <a:srgbClr val="2931D5"/>
                </a:solidFill>
              </a:rPr>
              <a:t>小于</a:t>
            </a:r>
            <a:r>
              <a:rPr lang="en-US" altLang="zh-CN" b="1" dirty="0">
                <a:solidFill>
                  <a:srgbClr val="2931D5"/>
                </a:solidFill>
              </a:rPr>
              <a:t>10cm</a:t>
            </a:r>
            <a:endParaRPr lang="zh-CN" altLang="en-US" b="1" dirty="0">
              <a:solidFill>
                <a:srgbClr val="2931D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5" grpId="0" bldLvl="0" animBg="1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52" grpId="0"/>
      <p:bldP spid="5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/>
              <a:t>质量指标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2056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/>
              <a:t>quality</a:t>
            </a:r>
            <a:r>
              <a:rPr lang="zh-CN" altLang="en-US" sz="2000"/>
              <a:t> </a:t>
            </a:r>
            <a:r>
              <a:rPr lang="en-US" altLang="zh-CN" sz="2000"/>
              <a:t>indicators</a:t>
            </a:r>
            <a:endParaRPr lang="zh-CN" altLang="en-US" sz="200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02" y="1490492"/>
            <a:ext cx="721229" cy="721229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99" y="3205716"/>
            <a:ext cx="721229" cy="721229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99" y="4885315"/>
            <a:ext cx="721229" cy="721229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781299" y="145922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可维护性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781299" y="1815233"/>
            <a:ext cx="10101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系统应采用模块化设计，视觉识别、机械臂控制、任务管理、异常处理等模块边界清晰。</a:t>
            </a:r>
            <a:endParaRPr kumimoji="1"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关键阈值、运动速度、码垛规则和标定参数应支持配置化管理，便于调试与维护。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781299" y="315040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完整性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781299" y="3506421"/>
            <a:ext cx="10101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集成了环境建图、目标物体识别与抓取以及广泛的异常处理机制。</a:t>
            </a:r>
            <a:endParaRPr kumimoji="1"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一系列功能紧密结合，形成一个闭环的工作流程。</a:t>
            </a:r>
            <a:endParaRPr kumimoji="1"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781299" y="484159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可拓展性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781299" y="5197609"/>
            <a:ext cx="10101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系统应支持未来扩展更多货物类型、增加码垛层数、调整目标区域规则，或适配不同型号的相机与机械臂。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/>
              <a:t>质量指标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2056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/>
              <a:t>quality</a:t>
            </a:r>
            <a:r>
              <a:rPr lang="zh-CN" altLang="en-US" sz="2000"/>
              <a:t> </a:t>
            </a:r>
            <a:r>
              <a:rPr lang="en-US" altLang="zh-CN" sz="2000"/>
              <a:t>indicators</a:t>
            </a:r>
            <a:endParaRPr lang="zh-CN" altLang="en-US" sz="2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94" y="3254729"/>
            <a:ext cx="726044" cy="72604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94" y="4970984"/>
            <a:ext cx="726044" cy="72604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94" y="1514724"/>
            <a:ext cx="726044" cy="726044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781299" y="144268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可靠性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781299" y="1798693"/>
            <a:ext cx="101015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系统在长时间连续运行过程中应保持稳定。</a:t>
            </a:r>
            <a:endParaRPr kumimoji="1"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对一般异常应具备自动恢复、自动跳过或安全暂停能力，不得因单次识别失败或抓取失败导致整个系统崩溃。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781299" y="320511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安全性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781299" y="3561131"/>
            <a:ext cx="101015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系统应具备硬件急停和软件急停机制</a:t>
            </a:r>
            <a:r>
              <a:rPr kumimoji="1"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1"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当检测到设备异常、碰撞风险或关键传感器故障时，应立即停止危险动作并进入安全状态，避免对人员、设备和货物造成损害。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781299" y="489630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合规性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781299" y="5252319"/>
            <a:ext cx="101015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本系统严格遵守机器人安全标准、电磁兼容性标准、数据保护法规等相关法律法规。</a:t>
            </a:r>
            <a:endParaRPr kumimoji="1"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在产品设计、生产和使用过程中，严格遵循绿色制造和可持续发展的原则。</a:t>
            </a:r>
            <a:endParaRPr kumimoji="1"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本系统在整个生命周期内符合环境保护和社会责任的要求。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/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>
                <a:solidFill>
                  <a:srgbClr val="0E60A8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5400" b="1" dirty="0">
              <a:solidFill>
                <a:srgbClr val="0E60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用户界面需求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设计原则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952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Design principles</a:t>
            </a:r>
            <a:endParaRPr lang="zh-CN" altLang="en-US" sz="2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29" y="1513932"/>
            <a:ext cx="754256" cy="75425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53" y="4184576"/>
            <a:ext cx="754256" cy="75425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066" y="4184576"/>
            <a:ext cx="754256" cy="75425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81298" y="1459221"/>
            <a:ext cx="2403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简洁直观</a:t>
            </a:r>
            <a:endParaRPr kumimoji="1"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81299" y="1815233"/>
            <a:ext cx="4111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核心功能（任务创建、启动停止、急停）位于显眼位置，操作路径不超过</a:t>
            </a:r>
            <a:r>
              <a:rPr kumimoji="1"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步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781299" y="4202570"/>
            <a:ext cx="3158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安全优先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81299" y="4558582"/>
            <a:ext cx="4111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急停按钮使用红色，位于界面固定位置，操作需确认</a:t>
            </a:r>
            <a:endParaRPr kumimoji="1"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187819" y="4184576"/>
            <a:ext cx="2716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信息分层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187820" y="4540588"/>
            <a:ext cx="4111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主界面展示核心信息，详细信息通过弹窗或二级页面查看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187819" y="1459221"/>
            <a:ext cx="2403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状态可视化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187820" y="1815233"/>
            <a:ext cx="4111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关键状态（机器人状态、任务进度、异常信息）通过图形化方式实时展示</a:t>
            </a:r>
          </a:p>
        </p:txBody>
      </p:sp>
      <p:pic>
        <p:nvPicPr>
          <p:cNvPr id="20" name="图形 19">
            <a:extLst>
              <a:ext uri="{FF2B5EF4-FFF2-40B4-BE49-F238E27FC236}">
                <a16:creationId xmlns:a16="http://schemas.microsoft.com/office/drawing/2014/main" id="{E459FD47-E8D1-60DD-A0CA-23AFAB291E3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38322" y="1513932"/>
            <a:ext cx="756000" cy="75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/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 dirty="0">
                <a:solidFill>
                  <a:srgbClr val="0E60A8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</a:p>
        </p:txBody>
      </p:sp>
      <p:sp>
        <p:nvSpPr>
          <p:cNvPr id="11" name="矩形 10"/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运行与开发环境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运行环境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软硬件环境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868907" y="2497176"/>
            <a:ext cx="3187910" cy="3751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摄像头或深度相机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启智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ROS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机器人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主体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启智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ROS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机器人配套机械臂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和夹爪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实验场地中的货物、工作台和目标区域标识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网络连接与供电设备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81982" y="2419521"/>
            <a:ext cx="6093994" cy="2527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Ubuntu 20.04</a:t>
            </a:r>
          </a:p>
          <a:p>
            <a:pPr marL="342900" lvl="0" indent="-342900" algn="just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ROS Noetic</a:t>
            </a:r>
          </a:p>
          <a:p>
            <a:pPr marL="342900" lvl="0" indent="-342900" algn="just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启智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ROS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机器人相关基础包和驱动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Gazebo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仿真环境</a:t>
            </a:r>
          </a:p>
          <a:p>
            <a:pPr marL="342900" lvl="0" indent="-342900" algn="just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可视化平台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Rviz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矩形: 圆角 8"/>
          <p:cNvSpPr/>
          <p:nvPr/>
        </p:nvSpPr>
        <p:spPr bwMode="auto">
          <a:xfrm>
            <a:off x="2620682" y="1723832"/>
            <a:ext cx="1736950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32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硬件环境</a:t>
            </a:r>
          </a:p>
        </p:txBody>
      </p:sp>
      <p:sp>
        <p:nvSpPr>
          <p:cNvPr id="10" name="矩形: 圆角 9"/>
          <p:cNvSpPr/>
          <p:nvPr/>
        </p:nvSpPr>
        <p:spPr bwMode="auto">
          <a:xfrm>
            <a:off x="7752775" y="1723832"/>
            <a:ext cx="1736950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32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软件环境</a:t>
            </a:r>
          </a:p>
        </p:txBody>
      </p:sp>
      <p:sp>
        <p:nvSpPr>
          <p:cNvPr id="15" name="矩形 14"/>
          <p:cNvSpPr/>
          <p:nvPr/>
        </p:nvSpPr>
        <p:spPr>
          <a:xfrm>
            <a:off x="1665170" y="2419521"/>
            <a:ext cx="3647975" cy="3471915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529582" y="2408291"/>
            <a:ext cx="4183336" cy="2664223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00B18-974E-91B4-9282-E362EAAE3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9770CD3-7E4D-28D6-69A0-8158A1459BA1}"/>
              </a:ext>
            </a:extLst>
          </p:cNvPr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FAE001-3456-354B-1EBC-3B89E9006AE9}"/>
              </a:ext>
            </a:extLst>
          </p:cNvPr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Calibri"/>
                <a:ea typeface="微软雅黑" panose="020B0503020204020204" pitchFamily="34" charset="-122"/>
              </a:rPr>
              <a:t>开发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环境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E28F57-FA25-D8E6-3FBC-D97B7F8746E6}"/>
              </a:ext>
            </a:extLst>
          </p:cNvPr>
          <p:cNvSpPr txBox="1"/>
          <p:nvPr/>
        </p:nvSpPr>
        <p:spPr>
          <a:xfrm>
            <a:off x="609600" y="70479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软硬件环境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4A427B-FEB9-C884-79B5-94796534BF8A}"/>
              </a:ext>
            </a:extLst>
          </p:cNvPr>
          <p:cNvSpPr txBox="1"/>
          <p:nvPr/>
        </p:nvSpPr>
        <p:spPr>
          <a:xfrm>
            <a:off x="1795264" y="2042436"/>
            <a:ext cx="3187910" cy="2271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个人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PC 5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台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机器人平台及配套实验设备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调试所需连接线、支架、标记板等辅助设备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A9ABEDC-7424-7A66-AEA8-22E69760DE5E}"/>
              </a:ext>
            </a:extLst>
          </p:cNvPr>
          <p:cNvSpPr txBox="1"/>
          <p:nvPr/>
        </p:nvSpPr>
        <p:spPr>
          <a:xfrm>
            <a:off x="6608339" y="1964781"/>
            <a:ext cx="6093994" cy="4084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Ubuntu 20.04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ROS 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开发环境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Visual Studio Code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集成开发环境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Gazebo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仿真环境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可视化平台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Rviz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Python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C++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编译运行环境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Git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代码管理工具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GitLab 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项目管理平台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FF4C42A-0B7F-C70F-73DD-4B5C06932E5A}"/>
              </a:ext>
            </a:extLst>
          </p:cNvPr>
          <p:cNvSpPr/>
          <p:nvPr/>
        </p:nvSpPr>
        <p:spPr bwMode="auto">
          <a:xfrm>
            <a:off x="2547039" y="1269092"/>
            <a:ext cx="1736950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硬件环境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83E1060-CB3F-0295-9EFB-E6899406FFF7}"/>
              </a:ext>
            </a:extLst>
          </p:cNvPr>
          <p:cNvSpPr/>
          <p:nvPr/>
        </p:nvSpPr>
        <p:spPr bwMode="auto">
          <a:xfrm>
            <a:off x="7679132" y="1269092"/>
            <a:ext cx="1736950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软件环境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93175E2-8737-4201-A5C6-8F4177519D97}"/>
              </a:ext>
            </a:extLst>
          </p:cNvPr>
          <p:cNvSpPr/>
          <p:nvPr/>
        </p:nvSpPr>
        <p:spPr>
          <a:xfrm>
            <a:off x="1591527" y="1964781"/>
            <a:ext cx="3647975" cy="2447051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5E9F6C-66DD-1A1C-C095-5280AE0FE8C2}"/>
              </a:ext>
            </a:extLst>
          </p:cNvPr>
          <p:cNvSpPr/>
          <p:nvPr/>
        </p:nvSpPr>
        <p:spPr>
          <a:xfrm>
            <a:off x="6455939" y="1953551"/>
            <a:ext cx="4183336" cy="4171088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83925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/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 dirty="0">
                <a:solidFill>
                  <a:srgbClr val="0E60A8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</a:p>
        </p:txBody>
      </p:sp>
      <p:sp>
        <p:nvSpPr>
          <p:cNvPr id="11" name="矩形 10"/>
          <p:cNvSpPr/>
          <p:nvPr/>
        </p:nvSpPr>
        <p:spPr>
          <a:xfrm>
            <a:off x="4833035" y="2988356"/>
            <a:ext cx="5184576" cy="68389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gitlab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过程管理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9D48C-BDBF-D4F3-6355-FFE6BFACB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2037405-4D7D-522A-E0C7-A94050926101}"/>
              </a:ext>
            </a:extLst>
          </p:cNvPr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5FA4F5-1985-450D-ED77-B4EB835782CE}"/>
              </a:ext>
            </a:extLst>
          </p:cNvPr>
          <p:cNvSpPr txBox="1"/>
          <p:nvPr/>
        </p:nvSpPr>
        <p:spPr>
          <a:xfrm>
            <a:off x="609600" y="295759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项目框架与人员分工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F55247C-77D7-1C89-BF50-E2B1DA13DB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196"/>
          <a:stretch>
            <a:fillRect/>
          </a:stretch>
        </p:blipFill>
        <p:spPr>
          <a:xfrm>
            <a:off x="709045" y="757424"/>
            <a:ext cx="3869261" cy="595395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BE14C1C-6A37-1393-1605-AB644AE5B3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82" t="16531" r="6690" b="3611"/>
          <a:stretch>
            <a:fillRect/>
          </a:stretch>
        </p:blipFill>
        <p:spPr>
          <a:xfrm>
            <a:off x="4632674" y="1296802"/>
            <a:ext cx="7605286" cy="48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2538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分支管理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08AA06E-A65A-DA78-B347-EBF3A354C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18" y="699962"/>
            <a:ext cx="8644847" cy="536883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A8D11DB-3F1B-3F09-3213-09C745EF6C67}"/>
              </a:ext>
            </a:extLst>
          </p:cNvPr>
          <p:cNvSpPr txBox="1"/>
          <p:nvPr/>
        </p:nvSpPr>
        <p:spPr>
          <a:xfrm>
            <a:off x="8722880" y="699962"/>
            <a:ext cx="333860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目前共有</a:t>
            </a:r>
            <a:r>
              <a:rPr lang="en-US" altLang="zh-CN" sz="2400" dirty="0"/>
              <a:t>4</a:t>
            </a:r>
            <a:r>
              <a:rPr lang="zh-CN" altLang="en-US" sz="2400" dirty="0"/>
              <a:t>个分支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FF0000"/>
                </a:solidFill>
              </a:rPr>
              <a:t>Main</a:t>
            </a:r>
            <a:r>
              <a:rPr lang="en-US" altLang="zh-CN" sz="2400" dirty="0"/>
              <a:t>: </a:t>
            </a:r>
            <a:r>
              <a:rPr lang="zh-CN" altLang="en-US" sz="2400" dirty="0"/>
              <a:t>主分支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>
                <a:solidFill>
                  <a:srgbClr val="FF0000"/>
                </a:solidFill>
              </a:rPr>
              <a:t>Feature:</a:t>
            </a:r>
            <a:r>
              <a:rPr lang="zh-CN" altLang="en-US" sz="2400" dirty="0"/>
              <a:t>功能开发分支，可以有多个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>
                <a:solidFill>
                  <a:srgbClr val="FF0000"/>
                </a:solidFill>
              </a:rPr>
              <a:t>Debug: 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/>
              <a:t>bug</a:t>
            </a:r>
            <a:r>
              <a:rPr lang="zh-CN" altLang="en-US" sz="2400" dirty="0"/>
              <a:t>修复分支</a:t>
            </a:r>
            <a:r>
              <a:rPr lang="en-US" altLang="zh-CN" sz="2400" dirty="0"/>
              <a:t>,</a:t>
            </a:r>
            <a:r>
              <a:rPr lang="zh-CN" altLang="en-US" sz="2400" dirty="0"/>
              <a:t>修复</a:t>
            </a:r>
            <a:r>
              <a:rPr lang="en-US" altLang="zh-CN" sz="2400" dirty="0"/>
              <a:t>main</a:t>
            </a:r>
            <a:r>
              <a:rPr lang="zh-CN" altLang="en-US" sz="2400" dirty="0"/>
              <a:t>分支中的</a:t>
            </a:r>
            <a:r>
              <a:rPr lang="en-US" altLang="zh-CN" sz="2400" dirty="0"/>
              <a:t>bug</a:t>
            </a:r>
          </a:p>
          <a:p>
            <a:endParaRPr lang="en-US" altLang="zh-CN" sz="2400" dirty="0"/>
          </a:p>
          <a:p>
            <a:r>
              <a:rPr lang="en-US" altLang="zh-CN" sz="2400" dirty="0">
                <a:solidFill>
                  <a:srgbClr val="FF0000"/>
                </a:solidFill>
              </a:rPr>
              <a:t>Develop:</a:t>
            </a:r>
            <a:r>
              <a:rPr lang="zh-CN" altLang="en-US" sz="2400" dirty="0"/>
              <a:t>开发测试汇总分支，包含所有</a:t>
            </a:r>
            <a:endParaRPr lang="en-US" altLang="zh-CN" sz="2400" dirty="0"/>
          </a:p>
          <a:p>
            <a:r>
              <a:rPr lang="zh-CN" altLang="en-US" sz="2400" dirty="0"/>
              <a:t>已完成但还未合并到</a:t>
            </a:r>
            <a:r>
              <a:rPr lang="en-US" altLang="zh-CN" sz="2400" dirty="0"/>
              <a:t>main</a:t>
            </a:r>
            <a:r>
              <a:rPr lang="zh-CN" altLang="en-US" sz="2400" dirty="0"/>
              <a:t>的代码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>
                <a:solidFill>
                  <a:srgbClr val="00B0F0"/>
                </a:solidFill>
              </a:rPr>
              <a:t>未来设立关键版本分支</a:t>
            </a:r>
            <a:endParaRPr lang="en-US" altLang="zh-CN" sz="2400" dirty="0">
              <a:solidFill>
                <a:srgbClr val="00B0F0"/>
              </a:solidFill>
            </a:endParaRP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27108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issues——</a:t>
            </a:r>
            <a:r>
              <a:rPr lang="zh-CN" altLang="en-US" sz="2400" b="1"/>
              <a:t>任务分配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7081" y="1415649"/>
            <a:ext cx="695121" cy="695121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14221867-DC78-1FC0-A216-7C7D9209A0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4275"/>
          <a:stretch>
            <a:fillRect/>
          </a:stretch>
        </p:blipFill>
        <p:spPr>
          <a:xfrm>
            <a:off x="2293991" y="820409"/>
            <a:ext cx="7604018" cy="423369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06673FF-B34E-281D-B8F2-291C26725429}"/>
              </a:ext>
            </a:extLst>
          </p:cNvPr>
          <p:cNvSpPr txBox="1"/>
          <p:nvPr/>
        </p:nvSpPr>
        <p:spPr>
          <a:xfrm>
            <a:off x="3403125" y="5206594"/>
            <a:ext cx="53857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命名方式</a:t>
            </a:r>
            <a:endParaRPr lang="en-US" altLang="zh-CN" sz="2400" dirty="0"/>
          </a:p>
          <a:p>
            <a:pPr algn="ctr"/>
            <a:r>
              <a:rPr lang="en-US" altLang="zh-CN" sz="2400" dirty="0" err="1"/>
              <a:t>MileStone</a:t>
            </a:r>
            <a:r>
              <a:rPr lang="en-US" altLang="zh-CN" sz="2400" dirty="0"/>
              <a:t>: </a:t>
            </a:r>
            <a:r>
              <a:rPr lang="zh-CN" altLang="en-US" sz="2400" dirty="0"/>
              <a:t>任务内容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27108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issues——</a:t>
            </a:r>
            <a:r>
              <a:rPr lang="zh-CN" altLang="en-US" sz="2400" b="1"/>
              <a:t>任务分配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2B273BA-71F5-B54C-4B0D-7E4BCA1A6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95" y="1033216"/>
            <a:ext cx="5360835" cy="540217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35F6EDC-5E5F-5FD7-5894-5BEE5C12E3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23" r="8741"/>
          <a:stretch>
            <a:fillRect/>
          </a:stretch>
        </p:blipFill>
        <p:spPr>
          <a:xfrm>
            <a:off x="6321530" y="1327081"/>
            <a:ext cx="5658147" cy="481444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3383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err="1"/>
              <a:t>IssueBoard</a:t>
            </a:r>
            <a:r>
              <a:rPr lang="en-US" altLang="zh-CN" sz="2400" b="1" dirty="0"/>
              <a:t>——</a:t>
            </a:r>
            <a:r>
              <a:rPr lang="zh-CN" altLang="en-US" sz="2400" b="1" dirty="0"/>
              <a:t>进度控制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7081" y="1415649"/>
            <a:ext cx="695121" cy="695121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BE3C92BE-6CD3-97FB-D4D0-C70C2A02B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5813" y="699962"/>
            <a:ext cx="8080373" cy="486601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提交规范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58620" y="756285"/>
            <a:ext cx="9835515" cy="59766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71448" y="1582346"/>
            <a:ext cx="754256" cy="75425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合并规范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320925" y="756285"/>
            <a:ext cx="8851900" cy="57543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71448" y="1582346"/>
            <a:ext cx="754256" cy="75425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55C9F-CE64-4E93-BF67-7A17A0A10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A474405-AF91-6760-16EE-B4603923D906}"/>
              </a:ext>
            </a:extLst>
          </p:cNvPr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517D4D-CB60-C9E6-2351-DC8B6A550B16}"/>
              </a:ext>
            </a:extLst>
          </p:cNvPr>
          <p:cNvSpPr txBox="1"/>
          <p:nvPr/>
        </p:nvSpPr>
        <p:spPr>
          <a:xfrm>
            <a:off x="609600" y="295759"/>
            <a:ext cx="2151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CI/CD</a:t>
            </a:r>
            <a:r>
              <a:rPr lang="zh-CN" altLang="en-US" sz="2400" b="1" dirty="0"/>
              <a:t>与流水线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C28B741-172E-3AB4-33EC-63AA7FF14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57424"/>
            <a:ext cx="5476444" cy="516211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6EEC88B-DF19-DDA6-8983-80E4BE9F2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075" y="603709"/>
            <a:ext cx="6582694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4203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M2OWI4ZGYyMzhmZjM2ZGE1MTUxYjQ1ZGZhMjFiNz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211968503937,&quot;left&quot;:148.30181102362207,&quot;top&quot;:116.61212598425197,&quot;width&quot;:646.307637795275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211968503937,&quot;left&quot;:148.30181102362207,&quot;top&quot;:116.61212598425197,&quot;width&quot;:646.307637795275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211968503937,&quot;left&quot;:148.30181102362207,&quot;top&quot;:116.61212598425197,&quot;width&quot;:646.307637795275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211968503937,&quot;left&quot;:148.30181102362207,&quot;top&quot;:116.61212598425197,&quot;width&quot;:646.307637795275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211968503937,&quot;left&quot;:148.30181102362207,&quot;top&quot;:116.61212598425197,&quot;width&quot;:646.307637795275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211968503937,&quot;left&quot;:148.30181102362207,&quot;top&quot;:116.61212598425197,&quot;width&quot;:646.307637795275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211968503937,&quot;left&quot;:148.30181102362207,&quot;top&quot;:116.61212598425197,&quot;width&quot;:646.307637795275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211968503937,&quot;left&quot;:148.30181102362207,&quot;top&quot;:116.61212598425197,&quot;width&quot;:646.307637795275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211968503937,&quot;left&quot;:148.30181102362207,&quot;top&quot;:116.61212598425197,&quot;width&quot;:646.307637795275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07921259842516,&quot;left&quot;:67.65,&quot;top&quot;:160.42094488188977,&quot;width&quot;:398.7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07921259842516,&quot;left&quot;:67.65,&quot;top&quot;:160.42094488188977,&quot;width&quot;:398.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07921259842516,&quot;left&quot;:67.65,&quot;top&quot;:160.42094488188977,&quot;width&quot;:398.7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07921259842516,&quot;left&quot;:67.65,&quot;top&quot;:160.42094488188977,&quot;width&quot;:398.7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07921259842516,&quot;left&quot;:67.65,&quot;top&quot;:160.42094488188977,&quot;width&quot;:398.7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07921259842516,&quot;left&quot;:67.65,&quot;top&quot;:160.42094488188977,&quot;width&quot;:398.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20*526"/>
  <p:tag name="TABLE_ENDDRAG_RECT" val="197*6*720*526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3418</Words>
  <Application>Microsoft Office PowerPoint</Application>
  <PresentationFormat>宽屏</PresentationFormat>
  <Paragraphs>399</Paragraphs>
  <Slides>39</Slides>
  <Notes>0</Notes>
  <HiddenSlides>2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9" baseType="lpstr">
      <vt:lpstr>YaHei Consolas Hybrid</vt:lpstr>
      <vt:lpstr>黑体</vt:lpstr>
      <vt:lpstr>华文中宋</vt:lpstr>
      <vt:lpstr>宋体</vt:lpstr>
      <vt:lpstr>微软雅黑</vt:lpstr>
      <vt:lpstr>Arial</vt:lpstr>
      <vt:lpstr>Calibri</vt:lpstr>
      <vt:lpstr>Times New Roman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water-jet</dc:creator>
  <cp:lastModifiedBy>永康 张</cp:lastModifiedBy>
  <cp:revision>34</cp:revision>
  <dcterms:created xsi:type="dcterms:W3CDTF">2024-03-28T00:26:00Z</dcterms:created>
  <dcterms:modified xsi:type="dcterms:W3CDTF">2026-04-07T01:03:29Z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CEADBC1766B5461EBB64CF677225BA22_12</vt:lpwstr>
  </property>
  <property fmtid="{D5CDD505-2E9C-101B-9397-08002B2CF9AE}" pid="3" name="KSOProductBuildVer">
    <vt:lpwstr>2052-12.1.0.15374</vt:lpwstr>
  </property>
</Properties>
</file>