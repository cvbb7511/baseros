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sldIdLst>
    <p:sldId id="260" r:id="rId5"/>
    <p:sldId id="261" r:id="rId7"/>
    <p:sldId id="262" r:id="rId8"/>
    <p:sldId id="259" r:id="rId9"/>
    <p:sldId id="285" r:id="rId10"/>
    <p:sldId id="286" r:id="rId11"/>
    <p:sldId id="265" r:id="rId12"/>
    <p:sldId id="324" r:id="rId13"/>
    <p:sldId id="325" r:id="rId14"/>
    <p:sldId id="270" r:id="rId15"/>
    <p:sldId id="294" r:id="rId16"/>
    <p:sldId id="281" r:id="rId17"/>
    <p:sldId id="306" r:id="rId18"/>
    <p:sldId id="330" r:id="rId19"/>
    <p:sldId id="326" r:id="rId20"/>
    <p:sldId id="327" r:id="rId21"/>
    <p:sldId id="328" r:id="rId22"/>
    <p:sldId id="329" r:id="rId23"/>
    <p:sldId id="331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66" r:id="rId35"/>
    <p:sldId id="367" r:id="rId36"/>
    <p:sldId id="282" r:id="rId37"/>
    <p:sldId id="291" r:id="rId38"/>
    <p:sldId id="305" r:id="rId39"/>
    <p:sldId id="284" r:id="rId40"/>
    <p:sldId id="350" r:id="rId41"/>
    <p:sldId id="351" r:id="rId42"/>
    <p:sldId id="352" r:id="rId43"/>
    <p:sldId id="353" r:id="rId44"/>
    <p:sldId id="354" r:id="rId45"/>
    <p:sldId id="355" r:id="rId46"/>
    <p:sldId id="275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31D5"/>
    <a:srgbClr val="4472C4"/>
    <a:srgbClr val="0E60A8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84" autoAdjust="0"/>
    <p:restoredTop sz="84427" autoAdjust="0"/>
  </p:normalViewPr>
  <p:slideViewPr>
    <p:cSldViewPr snapToGrid="0">
      <p:cViewPr varScale="1">
        <p:scale>
          <a:sx n="81" d="100"/>
          <a:sy n="81" d="100"/>
        </p:scale>
        <p:origin x="7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0" Type="http://schemas.openxmlformats.org/officeDocument/2006/relationships/tableStyles" Target="tableStyles.xml"/><Relationship Id="rId5" Type="http://schemas.openxmlformats.org/officeDocument/2006/relationships/slide" Target="slides/slide1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DAC614-05D1-4723-84D7-CF4E2D84952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278389-6945-48F7-8ECF-0E758D3940D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278389-6945-48F7-8ECF-0E758D3940D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2D506-7797-4E7A-A029-7498E68DE4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F6597-6A83-40ED-B5F7-6AA11693D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2" Type="http://schemas.openxmlformats.org/officeDocument/2006/relationships/slideLayout" Target="../slideLayouts/slideLayout13.xml"/><Relationship Id="rId21" Type="http://schemas.openxmlformats.org/officeDocument/2006/relationships/tags" Target="../tags/tag36.xml"/><Relationship Id="rId20" Type="http://schemas.openxmlformats.org/officeDocument/2006/relationships/tags" Target="../tags/tag35.xml"/><Relationship Id="rId2" Type="http://schemas.openxmlformats.org/officeDocument/2006/relationships/tags" Target="../tags/tag17.xml"/><Relationship Id="rId19" Type="http://schemas.openxmlformats.org/officeDocument/2006/relationships/tags" Target="../tags/tag34.xml"/><Relationship Id="rId18" Type="http://schemas.openxmlformats.org/officeDocument/2006/relationships/tags" Target="../tags/tag33.xml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6.png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40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tags" Target="../tags/tag41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3" Type="http://schemas.openxmlformats.org/officeDocument/2006/relationships/tags" Target="../tags/tag43.xml"/><Relationship Id="rId2" Type="http://schemas.openxmlformats.org/officeDocument/2006/relationships/image" Target="../media/image27.png"/><Relationship Id="rId1" Type="http://schemas.openxmlformats.org/officeDocument/2006/relationships/tags" Target="../tags/tag42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3" Type="http://schemas.openxmlformats.org/officeDocument/2006/relationships/tags" Target="../tags/tag45.xml"/><Relationship Id="rId2" Type="http://schemas.openxmlformats.org/officeDocument/2006/relationships/image" Target="../media/image29.png"/><Relationship Id="rId1" Type="http://schemas.openxmlformats.org/officeDocument/2006/relationships/tags" Target="../tags/tag4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7.xml"/><Relationship Id="rId2" Type="http://schemas.openxmlformats.org/officeDocument/2006/relationships/image" Target="../media/image32.png"/><Relationship Id="rId1" Type="http://schemas.openxmlformats.org/officeDocument/2006/relationships/tags" Target="../tags/tag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20065301">
            <a:off x="-984084" y="1561854"/>
            <a:ext cx="12653143" cy="11672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 rot="20065301">
            <a:off x="-1599367" y="-1919503"/>
            <a:ext cx="10719676" cy="42447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532260" y="3753894"/>
            <a:ext cx="53383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SnakeBite</a:t>
            </a: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码垛机器人</a:t>
            </a: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32260" y="4616243"/>
            <a:ext cx="2031325" cy="16890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软件设计说明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2026.4.28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周二第八组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633410" y="4530275"/>
            <a:ext cx="6362647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355252" y="280755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4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98552" y="1050196"/>
            <a:ext cx="2194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图文框 14"/>
          <p:cNvSpPr/>
          <p:nvPr/>
        </p:nvSpPr>
        <p:spPr>
          <a:xfrm>
            <a:off x="1192274" y="1906674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20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106267" y="1977078"/>
            <a:ext cx="157607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宋体" panose="02010600030101010101" pitchFamily="2" charset="-122"/>
              </a:rPr>
              <a:t>需求回顾</a:t>
            </a:r>
            <a:endParaRPr lang="zh-CN" altLang="zh-CN" sz="2700" b="1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19" name="图文框 18"/>
          <p:cNvSpPr/>
          <p:nvPr/>
        </p:nvSpPr>
        <p:spPr>
          <a:xfrm>
            <a:off x="7066195" y="1906674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320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980188" y="1977077"/>
            <a:ext cx="192392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latin typeface="Times New Roman" panose="02020603050405020304" pitchFamily="18" charset="0"/>
                <a:ea typeface="黑体" panose="02010609060101010101" pitchFamily="49" charset="-122"/>
                <a:cs typeface="宋体" panose="02010600030101010101" pitchFamily="2" charset="-122"/>
              </a:rPr>
              <a:t>数据库设计</a:t>
            </a:r>
            <a:endParaRPr lang="zh-CN" altLang="zh-CN" sz="2700" b="1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22" name="图文框 21"/>
          <p:cNvSpPr/>
          <p:nvPr/>
        </p:nvSpPr>
        <p:spPr>
          <a:xfrm>
            <a:off x="1192274" y="3153905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320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106267" y="3175084"/>
            <a:ext cx="227177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宋体" panose="02010600030101010101" pitchFamily="2" charset="-122"/>
              </a:rPr>
              <a:t>体系结构设计</a:t>
            </a:r>
            <a:endParaRPr lang="zh-CN" altLang="zh-CN" sz="2700" b="1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25" name="图文框 24"/>
          <p:cNvSpPr/>
          <p:nvPr/>
        </p:nvSpPr>
        <p:spPr>
          <a:xfrm>
            <a:off x="7066195" y="3153905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320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980188" y="3203283"/>
            <a:ext cx="157607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宋体" panose="02010600030101010101" pitchFamily="2" charset="-122"/>
              </a:rPr>
              <a:t>接口设计</a:t>
            </a:r>
            <a:endParaRPr lang="zh-CN" altLang="zh-CN" sz="2700" b="1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2" name="图文框 1"/>
          <p:cNvSpPr/>
          <p:nvPr/>
        </p:nvSpPr>
        <p:spPr>
          <a:xfrm>
            <a:off x="1192274" y="4401136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3200" dirty="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06267" y="4422315"/>
            <a:ext cx="157607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宋体" panose="02010600030101010101" pitchFamily="2" charset="-122"/>
              </a:rPr>
              <a:t>详细设计</a:t>
            </a:r>
            <a:endParaRPr lang="zh-CN" altLang="zh-CN" sz="2700" b="1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4" name="图文框 3"/>
          <p:cNvSpPr/>
          <p:nvPr/>
        </p:nvSpPr>
        <p:spPr>
          <a:xfrm>
            <a:off x="7066195" y="4395450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3200" dirty="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80188" y="4416629"/>
            <a:ext cx="26196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700" b="1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宋体" panose="02010600030101010101" pitchFamily="2" charset="-122"/>
              </a:rPr>
              <a:t>运行与开发环境</a:t>
            </a:r>
            <a:endParaRPr lang="zh-CN" altLang="zh-CN" sz="2700" b="1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10" name="图文框 9"/>
          <p:cNvSpPr/>
          <p:nvPr/>
        </p:nvSpPr>
        <p:spPr>
          <a:xfrm>
            <a:off x="4441259" y="5615816"/>
            <a:ext cx="700920" cy="664029"/>
          </a:xfrm>
          <a:prstGeom prst="frame">
            <a:avLst>
              <a:gd name="adj1" fmla="val 744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3200" dirty="0">
              <a:solidFill>
                <a:srgbClr val="4472C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355252" y="5636995"/>
            <a:ext cx="265329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700" b="1" dirty="0">
                <a:latin typeface="Times New Roman" panose="02020603050405020304" pitchFamily="18" charset="0"/>
                <a:ea typeface="黑体" panose="02010609060101010101" pitchFamily="49" charset="-122"/>
                <a:cs typeface="宋体" panose="02010600030101010101" pitchFamily="2" charset="-122"/>
              </a:rPr>
              <a:t>GitLab</a:t>
            </a:r>
            <a:r>
              <a:rPr lang="zh-CN" altLang="en-US" sz="2700" b="1" dirty="0">
                <a:latin typeface="Times New Roman" panose="02020603050405020304" pitchFamily="18" charset="0"/>
                <a:ea typeface="黑体" panose="02010609060101010101" pitchFamily="49" charset="-122"/>
                <a:cs typeface="宋体" panose="02010600030101010101" pitchFamily="2" charset="-122"/>
              </a:rPr>
              <a:t>项目管理</a:t>
            </a:r>
            <a:endParaRPr lang="zh-CN" altLang="zh-CN" sz="2700" b="1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/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5400" b="1" dirty="0">
              <a:solidFill>
                <a:srgbClr val="0E60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需求回顾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Calibri" panose="020F0502020204030204"/>
                <a:ea typeface="微软雅黑" panose="020B0503020204020204" pitchFamily="34" charset="-122"/>
              </a:rPr>
              <a:t>需求回顾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项目背景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933077" y="1480974"/>
            <a:ext cx="47400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劳动强度大，人工无法长时间持续进行工作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人工分拣与码垛的效率难以匹配需求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TextBox 5"/>
          <p:cNvSpPr txBox="1"/>
          <p:nvPr>
            <p:custDataLst>
              <p:tags r:id="rId2"/>
            </p:custDataLst>
          </p:nvPr>
        </p:nvSpPr>
        <p:spPr>
          <a:xfrm>
            <a:off x="2189480" y="1728470"/>
            <a:ext cx="272224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仓库的效率需求增大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874C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reeform 8"/>
          <p:cNvSpPr/>
          <p:nvPr>
            <p:custDataLst>
              <p:tags r:id="rId3"/>
            </p:custDataLst>
          </p:nvPr>
        </p:nvSpPr>
        <p:spPr>
          <a:xfrm>
            <a:off x="1883433" y="1772388"/>
            <a:ext cx="269875" cy="31273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274" h="317">
                <a:moveTo>
                  <a:pt x="274" y="158"/>
                </a:moveTo>
                <a:lnTo>
                  <a:pt x="137" y="238"/>
                </a:lnTo>
                <a:lnTo>
                  <a:pt x="0" y="317"/>
                </a:lnTo>
                <a:lnTo>
                  <a:pt x="0" y="158"/>
                </a:lnTo>
                <a:lnTo>
                  <a:pt x="0" y="0"/>
                </a:lnTo>
                <a:lnTo>
                  <a:pt x="137" y="79"/>
                </a:lnTo>
                <a:lnTo>
                  <a:pt x="274" y="158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TextBox 5"/>
          <p:cNvSpPr txBox="1"/>
          <p:nvPr>
            <p:custDataLst>
              <p:tags r:id="rId4"/>
            </p:custDataLst>
          </p:nvPr>
        </p:nvSpPr>
        <p:spPr>
          <a:xfrm>
            <a:off x="2189797" y="3295482"/>
            <a:ext cx="2962919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仓库的稳定性要求提升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874C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Freeform 8"/>
          <p:cNvSpPr/>
          <p:nvPr>
            <p:custDataLst>
              <p:tags r:id="rId5"/>
            </p:custDataLst>
          </p:nvPr>
        </p:nvSpPr>
        <p:spPr>
          <a:xfrm>
            <a:off x="1883434" y="3339169"/>
            <a:ext cx="269875" cy="31273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274" h="317">
                <a:moveTo>
                  <a:pt x="274" y="158"/>
                </a:moveTo>
                <a:lnTo>
                  <a:pt x="137" y="238"/>
                </a:lnTo>
                <a:lnTo>
                  <a:pt x="0" y="317"/>
                </a:lnTo>
                <a:lnTo>
                  <a:pt x="0" y="158"/>
                </a:lnTo>
                <a:lnTo>
                  <a:pt x="0" y="0"/>
                </a:lnTo>
                <a:lnTo>
                  <a:pt x="137" y="79"/>
                </a:lnTo>
                <a:lnTo>
                  <a:pt x="274" y="158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4933077" y="3022984"/>
            <a:ext cx="515846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传统人工分拣准确度随工作时间降低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人工分拣的追溯难度大，耗时多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TextBox 5"/>
          <p:cNvSpPr txBox="1"/>
          <p:nvPr>
            <p:custDataLst>
              <p:tags r:id="rId7"/>
            </p:custDataLst>
          </p:nvPr>
        </p:nvSpPr>
        <p:spPr>
          <a:xfrm>
            <a:off x="2189797" y="4892163"/>
            <a:ext cx="2962919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仓库的运营成本难降低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874C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Freeform 8"/>
          <p:cNvSpPr/>
          <p:nvPr>
            <p:custDataLst>
              <p:tags r:id="rId8"/>
            </p:custDataLst>
          </p:nvPr>
        </p:nvSpPr>
        <p:spPr>
          <a:xfrm>
            <a:off x="1883434" y="4935850"/>
            <a:ext cx="269875" cy="31273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274" h="317">
                <a:moveTo>
                  <a:pt x="274" y="158"/>
                </a:moveTo>
                <a:lnTo>
                  <a:pt x="137" y="238"/>
                </a:lnTo>
                <a:lnTo>
                  <a:pt x="0" y="317"/>
                </a:lnTo>
                <a:lnTo>
                  <a:pt x="0" y="158"/>
                </a:lnTo>
                <a:lnTo>
                  <a:pt x="0" y="0"/>
                </a:lnTo>
                <a:lnTo>
                  <a:pt x="137" y="79"/>
                </a:lnTo>
                <a:lnTo>
                  <a:pt x="274" y="158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4933077" y="4498646"/>
            <a:ext cx="515846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人力成本上升，仓库运营成本难以降低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配套的管理成本进一步增加仓库运营成本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2400" b="1" dirty="0">
                <a:solidFill>
                  <a:srgbClr val="000000"/>
                </a:solidFill>
              </a:rPr>
              <a:t>需求回顾</a:t>
            </a:r>
            <a:endParaRPr lang="zh-CN" altLang="en-US" sz="2400" b="1" dirty="0">
              <a:solidFill>
                <a:srgbClr val="00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主要功能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65643" y="1451489"/>
            <a:ext cx="5174299" cy="4525800"/>
          </a:xfrm>
          <a:prstGeom prst="rect">
            <a:avLst/>
          </a:prstGeom>
          <a:solidFill>
            <a:srgbClr val="00B0F0">
              <a:alpha val="1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 5"/>
          <p:cNvSpPr/>
          <p:nvPr/>
        </p:nvSpPr>
        <p:spPr>
          <a:xfrm>
            <a:off x="1921662" y="1297102"/>
            <a:ext cx="2862262" cy="491692"/>
          </a:xfrm>
          <a:prstGeom prst="rect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码垛规划与执行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矩形 26"/>
          <p:cNvSpPr/>
          <p:nvPr>
            <p:custDataLst>
              <p:tags r:id="rId1"/>
            </p:custDataLst>
          </p:nvPr>
        </p:nvSpPr>
        <p:spPr bwMode="auto">
          <a:xfrm>
            <a:off x="948408" y="2037346"/>
            <a:ext cx="4874130" cy="399717"/>
          </a:xfrm>
          <a:prstGeom prst="rect">
            <a:avLst/>
          </a:prstGeom>
          <a:solidFill>
            <a:schemeClr val="accent1">
              <a:alpha val="10196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货物识别与分类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矩形 28"/>
          <p:cNvSpPr/>
          <p:nvPr>
            <p:custDataLst>
              <p:tags r:id="rId2"/>
            </p:custDataLst>
          </p:nvPr>
        </p:nvSpPr>
        <p:spPr bwMode="auto">
          <a:xfrm>
            <a:off x="950247" y="3337786"/>
            <a:ext cx="4874130" cy="399717"/>
          </a:xfrm>
          <a:prstGeom prst="rect">
            <a:avLst/>
          </a:prstGeom>
          <a:solidFill>
            <a:schemeClr val="accent1">
              <a:alpha val="10196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物体定位与体积计算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矩形 29"/>
          <p:cNvSpPr/>
          <p:nvPr>
            <p:custDataLst>
              <p:tags r:id="rId3"/>
            </p:custDataLst>
          </p:nvPr>
        </p:nvSpPr>
        <p:spPr bwMode="auto">
          <a:xfrm>
            <a:off x="948408" y="4575556"/>
            <a:ext cx="4874130" cy="399717"/>
          </a:xfrm>
          <a:prstGeom prst="rect">
            <a:avLst/>
          </a:prstGeom>
          <a:solidFill>
            <a:schemeClr val="accent1">
              <a:alpha val="10196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抓取与搬运控制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文本框 30"/>
          <p:cNvSpPr txBox="1"/>
          <p:nvPr>
            <p:custDataLst>
              <p:tags r:id="rId4"/>
            </p:custDataLst>
          </p:nvPr>
        </p:nvSpPr>
        <p:spPr>
          <a:xfrm>
            <a:off x="859155" y="2388235"/>
            <a:ext cx="50634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识别至少两类货物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（如本色纸盒与彩色纸箱）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文本框 31"/>
          <p:cNvSpPr txBox="1"/>
          <p:nvPr>
            <p:custDataLst>
              <p:tags r:id="rId5"/>
            </p:custDataLst>
          </p:nvPr>
        </p:nvSpPr>
        <p:spPr>
          <a:xfrm>
            <a:off x="1048465" y="3704778"/>
            <a:ext cx="48741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获取货物三维位置</a:t>
            </a:r>
            <a:endParaRPr kumimoji="0" lang="zh-CN" altLang="en-US" sz="16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并计算货物体积</a:t>
            </a:r>
            <a:endParaRPr kumimoji="0" lang="zh-CN" altLang="en-US" sz="16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6"/>
            </p:custDataLst>
          </p:nvPr>
        </p:nvSpPr>
        <p:spPr>
          <a:xfrm>
            <a:off x="1015784" y="5069207"/>
            <a:ext cx="48741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</a:t>
            </a: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基于视觉识别与定位结果，控制机械臂完成货物抓取、搬运和放置动作。</a:t>
            </a:r>
            <a:endParaRPr kumimoji="0" lang="zh-CN" altLang="en-US" sz="16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42" name="矩形 41"/>
          <p:cNvSpPr/>
          <p:nvPr/>
        </p:nvSpPr>
        <p:spPr bwMode="auto">
          <a:xfrm>
            <a:off x="6582475" y="1448321"/>
            <a:ext cx="4515454" cy="1977986"/>
          </a:xfrm>
          <a:prstGeom prst="rect">
            <a:avLst/>
          </a:prstGeom>
          <a:solidFill>
            <a:srgbClr val="92D050">
              <a:alpha val="1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矩形 5"/>
          <p:cNvSpPr/>
          <p:nvPr/>
        </p:nvSpPr>
        <p:spPr>
          <a:xfrm>
            <a:off x="7867540" y="1297102"/>
            <a:ext cx="1941613" cy="491692"/>
          </a:xfrm>
          <a:prstGeom prst="rect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状态监控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 bwMode="auto">
          <a:xfrm>
            <a:off x="7364573" y="1939563"/>
            <a:ext cx="2947546" cy="399717"/>
          </a:xfrm>
          <a:prstGeom prst="rect">
            <a:avLst/>
          </a:prstGeom>
          <a:solidFill>
            <a:srgbClr val="00B050">
              <a:alpha val="1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系统状态监控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7164070" y="2379345"/>
            <a:ext cx="3366770" cy="875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对机器人运行状态、相机画面、任务进度和统计数据进行实时监控。</a:t>
            </a:r>
            <a:endParaRPr kumimoji="0" lang="zh-CN" altLang="en-US" sz="16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矩形 50"/>
          <p:cNvSpPr/>
          <p:nvPr/>
        </p:nvSpPr>
        <p:spPr bwMode="auto">
          <a:xfrm>
            <a:off x="6582475" y="3655027"/>
            <a:ext cx="4515454" cy="2322262"/>
          </a:xfrm>
          <a:prstGeom prst="rect">
            <a:avLst/>
          </a:prstGeom>
          <a:solidFill>
            <a:srgbClr val="7030A0">
              <a:alpha val="1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874C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矩形 5"/>
          <p:cNvSpPr/>
          <p:nvPr/>
        </p:nvSpPr>
        <p:spPr>
          <a:xfrm>
            <a:off x="7867540" y="3503809"/>
            <a:ext cx="1941613" cy="491692"/>
          </a:xfrm>
          <a:prstGeom prst="rect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异常处理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矩形 52"/>
          <p:cNvSpPr/>
          <p:nvPr/>
        </p:nvSpPr>
        <p:spPr bwMode="auto">
          <a:xfrm>
            <a:off x="7364573" y="4237287"/>
            <a:ext cx="2947546" cy="399717"/>
          </a:xfrm>
          <a:prstGeom prst="rect">
            <a:avLst/>
          </a:prstGeom>
          <a:solidFill>
            <a:srgbClr val="7030A0">
              <a:alpha val="1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任务异常处理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772910" y="4751070"/>
            <a:ext cx="4157345" cy="875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kumimoji="0" lang="zh-CN" altLang="en-US" sz="16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对识别失败、抓取失败、路径规划失败、设备异常和急停等情况进行检测、处理和反馈。</a:t>
            </a:r>
            <a:endParaRPr kumimoji="0" lang="zh-CN" altLang="en-US" sz="16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400" b="1" dirty="0">
                <a:solidFill>
                  <a:srgbClr val="000000"/>
                </a:solidFill>
              </a:rPr>
              <a:t>需求回顾</a:t>
            </a:r>
            <a:endParaRPr lang="zh-CN" altLang="en-US" sz="2400" b="1" dirty="0">
              <a:solidFill>
                <a:srgbClr val="00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非功能性需求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5"/>
          <p:cNvSpPr/>
          <p:nvPr>
            <p:custDataLst>
              <p:tags r:id="rId1"/>
            </p:custDataLst>
          </p:nvPr>
        </p:nvSpPr>
        <p:spPr>
          <a:xfrm>
            <a:off x="3259041" y="1649442"/>
            <a:ext cx="6719887" cy="431800"/>
          </a:xfrm>
          <a:prstGeom prst="rect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矩形 6"/>
          <p:cNvSpPr/>
          <p:nvPr>
            <p:custDataLst>
              <p:tags r:id="rId2"/>
            </p:custDataLst>
          </p:nvPr>
        </p:nvSpPr>
        <p:spPr>
          <a:xfrm>
            <a:off x="3259041" y="3341717"/>
            <a:ext cx="6719887" cy="431800"/>
          </a:xfrm>
          <a:prstGeom prst="rect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 7"/>
          <p:cNvSpPr/>
          <p:nvPr>
            <p:custDataLst>
              <p:tags r:id="rId3"/>
            </p:custDataLst>
          </p:nvPr>
        </p:nvSpPr>
        <p:spPr>
          <a:xfrm>
            <a:off x="3259041" y="5184805"/>
            <a:ext cx="6719887" cy="431800"/>
          </a:xfrm>
          <a:prstGeom prst="rect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TextBox 8"/>
          <p:cNvSpPr txBox="1"/>
          <p:nvPr>
            <p:custDataLst>
              <p:tags r:id="rId4"/>
            </p:custDataLst>
          </p:nvPr>
        </p:nvSpPr>
        <p:spPr>
          <a:xfrm>
            <a:off x="3259041" y="1649442"/>
            <a:ext cx="3622675" cy="4000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可靠性与稳定性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Freeform 6"/>
          <p:cNvSpPr/>
          <p:nvPr>
            <p:custDataLst>
              <p:tags r:id="rId5"/>
            </p:custDataLst>
          </p:nvPr>
        </p:nvSpPr>
        <p:spPr>
          <a:xfrm>
            <a:off x="2827241" y="1666905"/>
            <a:ext cx="339725" cy="388937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0" t="0" r="0" b="0"/>
            <a:pathLst>
              <a:path w="443" h="511">
                <a:moveTo>
                  <a:pt x="0" y="256"/>
                </a:moveTo>
                <a:lnTo>
                  <a:pt x="221" y="128"/>
                </a:lnTo>
                <a:lnTo>
                  <a:pt x="443" y="0"/>
                </a:lnTo>
                <a:lnTo>
                  <a:pt x="443" y="256"/>
                </a:lnTo>
                <a:lnTo>
                  <a:pt x="443" y="511"/>
                </a:lnTo>
                <a:lnTo>
                  <a:pt x="221" y="384"/>
                </a:lnTo>
                <a:lnTo>
                  <a:pt x="0" y="256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Freeform 6"/>
          <p:cNvSpPr/>
          <p:nvPr>
            <p:custDataLst>
              <p:tags r:id="rId6"/>
            </p:custDataLst>
          </p:nvPr>
        </p:nvSpPr>
        <p:spPr>
          <a:xfrm>
            <a:off x="2827241" y="3359180"/>
            <a:ext cx="339725" cy="388937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0" t="0" r="0" b="0"/>
            <a:pathLst>
              <a:path w="443" h="511">
                <a:moveTo>
                  <a:pt x="0" y="256"/>
                </a:moveTo>
                <a:lnTo>
                  <a:pt x="221" y="128"/>
                </a:lnTo>
                <a:lnTo>
                  <a:pt x="443" y="0"/>
                </a:lnTo>
                <a:lnTo>
                  <a:pt x="443" y="256"/>
                </a:lnTo>
                <a:lnTo>
                  <a:pt x="443" y="511"/>
                </a:lnTo>
                <a:lnTo>
                  <a:pt x="221" y="384"/>
                </a:lnTo>
                <a:lnTo>
                  <a:pt x="0" y="256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Freeform 6"/>
          <p:cNvSpPr/>
          <p:nvPr>
            <p:custDataLst>
              <p:tags r:id="rId7"/>
            </p:custDataLst>
          </p:nvPr>
        </p:nvSpPr>
        <p:spPr>
          <a:xfrm>
            <a:off x="2827241" y="5187980"/>
            <a:ext cx="339725" cy="388937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0" t="0" r="0" b="0"/>
            <a:pathLst>
              <a:path w="443" h="511">
                <a:moveTo>
                  <a:pt x="0" y="256"/>
                </a:moveTo>
                <a:lnTo>
                  <a:pt x="221" y="128"/>
                </a:lnTo>
                <a:lnTo>
                  <a:pt x="443" y="0"/>
                </a:lnTo>
                <a:lnTo>
                  <a:pt x="443" y="256"/>
                </a:lnTo>
                <a:lnTo>
                  <a:pt x="443" y="511"/>
                </a:lnTo>
                <a:lnTo>
                  <a:pt x="221" y="384"/>
                </a:lnTo>
                <a:lnTo>
                  <a:pt x="0" y="256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3259041" y="3356005"/>
            <a:ext cx="3767137" cy="4000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异常处理功能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3259041" y="5184805"/>
            <a:ext cx="3767137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可维护性与可扩展性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3166966" y="2121814"/>
            <a:ext cx="6577013" cy="9220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   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满足批量分拣任务的节拍要求。保证识别、定位、路径规划和状态刷新具有较好的响应速度。保证识别、定位与码垛精度。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3207864" y="3790446"/>
            <a:ext cx="6577013" cy="9220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   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具备急停、碰撞防护与异常安全停机能力。对一般异常应具备自动恢复、自动跳过或安全暂停能力。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3259041" y="5682577"/>
            <a:ext cx="6577013" cy="9220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   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键参数应支持配置化管理，软件模块边界清晰，便于后续调试、维护和优化，并支持未来扩展货物种类、码垛规则。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4C5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Oval 6"/>
          <p:cNvSpPr/>
          <p:nvPr>
            <p:custDataLst>
              <p:tags r:id="rId13"/>
            </p:custDataLst>
          </p:nvPr>
        </p:nvSpPr>
        <p:spPr>
          <a:xfrm>
            <a:off x="1317486" y="1435623"/>
            <a:ext cx="1076325" cy="1076325"/>
          </a:xfrm>
          <a:prstGeom prst="ellipse">
            <a:avLst/>
          </a:prstGeom>
          <a:solidFill>
            <a:srgbClr val="DFDFE1"/>
          </a:solidFill>
          <a:ln w="9525">
            <a:noFill/>
          </a:ln>
        </p:spPr>
        <p:txBody>
          <a:bodyPr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Oval 7"/>
          <p:cNvSpPr/>
          <p:nvPr>
            <p:custDataLst>
              <p:tags r:id="rId14"/>
            </p:custDataLst>
          </p:nvPr>
        </p:nvSpPr>
        <p:spPr>
          <a:xfrm>
            <a:off x="1407974" y="1526110"/>
            <a:ext cx="896937" cy="895350"/>
          </a:xfrm>
          <a:prstGeom prst="ellipse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TextBox 19"/>
          <p:cNvSpPr txBox="1"/>
          <p:nvPr>
            <p:custDataLst>
              <p:tags r:id="rId15"/>
            </p:custDataLst>
          </p:nvPr>
        </p:nvSpPr>
        <p:spPr>
          <a:xfrm>
            <a:off x="1407974" y="1649935"/>
            <a:ext cx="901700" cy="646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Oval 6"/>
          <p:cNvSpPr/>
          <p:nvPr>
            <p:custDataLst>
              <p:tags r:id="rId16"/>
            </p:custDataLst>
          </p:nvPr>
        </p:nvSpPr>
        <p:spPr>
          <a:xfrm>
            <a:off x="1317486" y="3039586"/>
            <a:ext cx="1076325" cy="1076325"/>
          </a:xfrm>
          <a:prstGeom prst="ellipse">
            <a:avLst/>
          </a:prstGeom>
          <a:solidFill>
            <a:srgbClr val="DFDFE1"/>
          </a:solidFill>
          <a:ln w="9525">
            <a:noFill/>
          </a:ln>
        </p:spPr>
        <p:txBody>
          <a:bodyPr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Oval 7"/>
          <p:cNvSpPr/>
          <p:nvPr>
            <p:custDataLst>
              <p:tags r:id="rId17"/>
            </p:custDataLst>
          </p:nvPr>
        </p:nvSpPr>
        <p:spPr>
          <a:xfrm>
            <a:off x="1407974" y="3130073"/>
            <a:ext cx="896937" cy="895350"/>
          </a:xfrm>
          <a:prstGeom prst="ellipse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TextBox 19"/>
          <p:cNvSpPr txBox="1"/>
          <p:nvPr>
            <p:custDataLst>
              <p:tags r:id="rId18"/>
            </p:custDataLst>
          </p:nvPr>
        </p:nvSpPr>
        <p:spPr>
          <a:xfrm>
            <a:off x="1407974" y="3253898"/>
            <a:ext cx="901700" cy="646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Oval 6"/>
          <p:cNvSpPr/>
          <p:nvPr>
            <p:custDataLst>
              <p:tags r:id="rId19"/>
            </p:custDataLst>
          </p:nvPr>
        </p:nvSpPr>
        <p:spPr>
          <a:xfrm>
            <a:off x="1364985" y="4798331"/>
            <a:ext cx="1076325" cy="1076325"/>
          </a:xfrm>
          <a:prstGeom prst="ellipse">
            <a:avLst/>
          </a:prstGeom>
          <a:solidFill>
            <a:srgbClr val="DFDFE1"/>
          </a:solidFill>
          <a:ln w="9525">
            <a:noFill/>
          </a:ln>
        </p:spPr>
        <p:txBody>
          <a:bodyPr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Oval 7"/>
          <p:cNvSpPr/>
          <p:nvPr>
            <p:custDataLst>
              <p:tags r:id="rId20"/>
            </p:custDataLst>
          </p:nvPr>
        </p:nvSpPr>
        <p:spPr>
          <a:xfrm>
            <a:off x="1455473" y="4888818"/>
            <a:ext cx="896937" cy="895350"/>
          </a:xfrm>
          <a:prstGeom prst="ellipse">
            <a:avLst/>
          </a:prstGeom>
          <a:solidFill>
            <a:srgbClr val="113E6A"/>
          </a:solidFill>
          <a:ln w="9525">
            <a:noFill/>
          </a:ln>
        </p:spPr>
        <p:txBody>
          <a:bodyPr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" name="TextBox 19"/>
          <p:cNvSpPr txBox="1"/>
          <p:nvPr>
            <p:custDataLst>
              <p:tags r:id="rId21"/>
            </p:custDataLst>
          </p:nvPr>
        </p:nvSpPr>
        <p:spPr>
          <a:xfrm>
            <a:off x="1455473" y="5012643"/>
            <a:ext cx="901700" cy="6461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/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>
                <a:solidFill>
                  <a:srgbClr val="0E60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5400" b="1" dirty="0">
              <a:solidFill>
                <a:srgbClr val="0E60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数据库设计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矩形: 圆角 21"/>
          <p:cNvSpPr/>
          <p:nvPr/>
        </p:nvSpPr>
        <p:spPr bwMode="auto">
          <a:xfrm>
            <a:off x="896416" y="913239"/>
            <a:ext cx="2088219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地图配置表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矩形: 圆角 22"/>
          <p:cNvSpPr/>
          <p:nvPr/>
        </p:nvSpPr>
        <p:spPr bwMode="auto">
          <a:xfrm>
            <a:off x="4955322" y="913152"/>
            <a:ext cx="2088219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货物信息表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: 圆角 1"/>
          <p:cNvSpPr/>
          <p:nvPr/>
        </p:nvSpPr>
        <p:spPr bwMode="auto">
          <a:xfrm>
            <a:off x="9383098" y="366708"/>
            <a:ext cx="2088219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码垛位置表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50" y="1707320"/>
            <a:ext cx="2152950" cy="40582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719" y="1533976"/>
            <a:ext cx="2143424" cy="496321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4521" y="989781"/>
            <a:ext cx="2305372" cy="58682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数据库设计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矩形: 圆角 21"/>
          <p:cNvSpPr/>
          <p:nvPr/>
        </p:nvSpPr>
        <p:spPr bwMode="auto">
          <a:xfrm>
            <a:off x="3010966" y="913239"/>
            <a:ext cx="2088219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任务数据表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矩形: 圆角 22"/>
          <p:cNvSpPr/>
          <p:nvPr/>
        </p:nvSpPr>
        <p:spPr bwMode="auto">
          <a:xfrm>
            <a:off x="7371835" y="913238"/>
            <a:ext cx="2088219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系统日志表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2863" y="1480770"/>
            <a:ext cx="2324424" cy="52680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495" y="1480770"/>
            <a:ext cx="2314898" cy="37343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/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>
                <a:solidFill>
                  <a:srgbClr val="0E60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5400" b="1" dirty="0">
              <a:solidFill>
                <a:srgbClr val="0E60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体系结构设计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2316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软硬件体系结构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4805" y="1207213"/>
            <a:ext cx="500636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FF"/>
              </a:highlight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FF"/>
                </a:highlight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      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highlight>
                  <a:srgbClr val="FFFFFF"/>
                </a:highlight>
                <a:uLnTx/>
                <a:uFillTx/>
                <a:latin typeface="Söhne"/>
                <a:ea typeface="等线" panose="02010600030101010101" charset="-122"/>
                <a:cs typeface="+mn-cs"/>
              </a:rPr>
              <a:t>用户指令发送与数据可视化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highlight>
                <a:srgbClr val="FFFFFF"/>
              </a:highlight>
              <a:uLnTx/>
              <a:uFillTx/>
              <a:latin typeface="Söhne"/>
              <a:ea typeface="等线" panose="0201060003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highlight>
                <a:srgbClr val="FFFFFF"/>
              </a:highlight>
              <a:uLnTx/>
              <a:uFillTx/>
              <a:latin typeface="Söhne"/>
              <a:ea typeface="等线" panose="0201060003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highlight>
                <a:srgbClr val="FFFFFF"/>
              </a:highlight>
              <a:uLnTx/>
              <a:uFillTx/>
              <a:latin typeface="Söhne"/>
              <a:ea typeface="等线" panose="02010600030101010101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highlight>
                <a:srgbClr val="FFFFFF"/>
              </a:highlight>
              <a:uLnTx/>
              <a:uFillTx/>
              <a:latin typeface="Söhne"/>
              <a:ea typeface="等线" panose="02010600030101010101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highlight>
                  <a:srgbClr val="FFFFFF"/>
                </a:highlight>
                <a:uLnTx/>
                <a:uFillTx/>
                <a:latin typeface="Söhne"/>
                <a:ea typeface="等线" panose="02010600030101010101" charset="-122"/>
                <a:cs typeface="+mn-cs"/>
              </a:rPr>
              <a:t>                        服务进程调度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highlight>
                <a:srgbClr val="FFFFFF"/>
              </a:highlight>
              <a:uLnTx/>
              <a:uFillTx/>
              <a:latin typeface="Söhne"/>
              <a:ea typeface="等线" panose="0201060003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highlight>
                <a:srgbClr val="FFFFFF"/>
              </a:highlight>
              <a:uLnTx/>
              <a:uFillTx/>
              <a:latin typeface="Söhne"/>
              <a:ea typeface="等线" panose="0201060003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highlight>
                <a:srgbClr val="FFFFFF"/>
              </a:highlight>
              <a:uLnTx/>
              <a:uFillTx/>
              <a:latin typeface="Söhne"/>
              <a:ea typeface="等线" panose="0201060003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highlight>
                <a:srgbClr val="FFFFFF"/>
              </a:highlight>
              <a:uLnTx/>
              <a:uFillTx/>
              <a:latin typeface="Söhne"/>
              <a:ea typeface="等线" panose="02010600030101010101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highlight>
                  <a:srgbClr val="FFFFFF"/>
                </a:highlight>
                <a:uLnTx/>
                <a:uFillTx/>
                <a:latin typeface="Söhne"/>
                <a:ea typeface="等线" panose="02010600030101010101" charset="-122"/>
                <a:cs typeface="+mn-cs"/>
              </a:rPr>
              <a:t>                     完成某一种用例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highlight>
                <a:srgbClr val="FFFFFF"/>
              </a:highlight>
              <a:uLnTx/>
              <a:uFillTx/>
              <a:latin typeface="Söhne"/>
              <a:ea typeface="等线" panose="0201060003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highlight>
                <a:srgbClr val="FFFFFF"/>
              </a:highlight>
              <a:uLnTx/>
              <a:uFillTx/>
              <a:latin typeface="Söhne"/>
              <a:ea typeface="等线" panose="0201060003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highlight>
                <a:srgbClr val="FFFFFF"/>
              </a:highlight>
              <a:uLnTx/>
              <a:uFillTx/>
              <a:latin typeface="Söhne"/>
              <a:ea typeface="等线" panose="0201060003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highlight>
                <a:srgbClr val="FFFFFF"/>
              </a:highlight>
              <a:uLnTx/>
              <a:uFillTx/>
              <a:latin typeface="Söhne"/>
              <a:ea typeface="等线" panose="02010600030101010101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highlight>
                  <a:srgbClr val="FFFFFF"/>
                </a:highlight>
                <a:uLnTx/>
                <a:uFillTx/>
                <a:latin typeface="Söhne"/>
                <a:ea typeface="等线" panose="02010600030101010101" charset="-122"/>
                <a:cs typeface="+mn-cs"/>
              </a:rPr>
              <a:t>            完成一种独立且特定的功能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highlight>
                <a:srgbClr val="FFFFFF"/>
              </a:highlight>
              <a:uLnTx/>
              <a:uFillTx/>
              <a:latin typeface="Söhne"/>
              <a:ea typeface="等线" panose="0201060003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highlight>
                <a:srgbClr val="FFFFFF"/>
              </a:highlight>
              <a:uLnTx/>
              <a:uFillTx/>
              <a:latin typeface="Söhne"/>
              <a:ea typeface="等线" panose="0201060003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highlight>
                <a:srgbClr val="FFFFFF"/>
              </a:highlight>
              <a:uLnTx/>
              <a:uFillTx/>
              <a:latin typeface="Söhne"/>
              <a:ea typeface="等线" panose="0201060003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highlight>
                <a:srgbClr val="FFFFFF"/>
              </a:highlight>
              <a:uLnTx/>
              <a:uFillTx/>
              <a:latin typeface="Söhne"/>
              <a:ea typeface="等线" panose="02010600030101010101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highlight>
                  <a:srgbClr val="FFFFFF"/>
                </a:highlight>
                <a:uLnTx/>
                <a:uFillTx/>
                <a:latin typeface="Söhne"/>
                <a:ea typeface="等线" panose="02010600030101010101" charset="-122"/>
                <a:cs typeface="+mn-cs"/>
              </a:rPr>
              <a:t>机器人硬件设备：输入，输出，双向交互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highlight>
                <a:srgbClr val="FFFFFF"/>
              </a:highlight>
              <a:uLnTx/>
              <a:uFillTx/>
              <a:latin typeface="Söhne"/>
              <a:ea typeface="等线" panose="0201060003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矩形: 圆角 2"/>
          <p:cNvSpPr/>
          <p:nvPr/>
        </p:nvSpPr>
        <p:spPr bwMode="auto">
          <a:xfrm>
            <a:off x="1169205" y="1259849"/>
            <a:ext cx="2088219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用户层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: 圆角 2"/>
          <p:cNvSpPr/>
          <p:nvPr/>
        </p:nvSpPr>
        <p:spPr bwMode="auto">
          <a:xfrm>
            <a:off x="1169205" y="2369531"/>
            <a:ext cx="2088219" cy="489585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控制层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: 圆角 2"/>
          <p:cNvSpPr/>
          <p:nvPr/>
        </p:nvSpPr>
        <p:spPr bwMode="auto">
          <a:xfrm>
            <a:off x="1169205" y="3460053"/>
            <a:ext cx="2088219" cy="489585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服务层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: 圆角 2"/>
          <p:cNvSpPr/>
          <p:nvPr>
            <p:custDataLst>
              <p:tags r:id="rId1"/>
            </p:custDataLst>
          </p:nvPr>
        </p:nvSpPr>
        <p:spPr bwMode="auto">
          <a:xfrm>
            <a:off x="1169206" y="4547880"/>
            <a:ext cx="2088219" cy="489585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功能层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: 圆角 2"/>
          <p:cNvSpPr/>
          <p:nvPr>
            <p:custDataLst>
              <p:tags r:id="rId2"/>
            </p:custDataLst>
          </p:nvPr>
        </p:nvSpPr>
        <p:spPr bwMode="auto">
          <a:xfrm>
            <a:off x="1169207" y="5650787"/>
            <a:ext cx="2088219" cy="489585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硬件层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019" y="881140"/>
            <a:ext cx="7223838" cy="5259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/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5400" b="1" dirty="0">
              <a:solidFill>
                <a:srgbClr val="0E60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接口设计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用户界面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zh-CN" dirty="0"/>
              <a:t>等待服务界面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385" y="1300480"/>
            <a:ext cx="11365230" cy="3921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用户界面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建图界面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0" y="1390650"/>
            <a:ext cx="10918825" cy="4071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用户界面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货物识别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界面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0" y="1483360"/>
            <a:ext cx="11178540" cy="39554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用户界面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zh-CN" dirty="0"/>
              <a:t>批量码垛任务创建界面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0" y="1483360"/>
            <a:ext cx="10996930" cy="355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用户界面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2109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zh-CN" dirty="0"/>
              <a:t>任务队列管理界面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00" y="1344930"/>
            <a:ext cx="10790555" cy="4570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用户界面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zh-CN" dirty="0"/>
              <a:t>监控与临时调试界面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388" y="1378478"/>
            <a:ext cx="10685224" cy="44232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接口设计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20072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以建图界面为例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63195" y="1104900"/>
          <a:ext cx="11865610" cy="56876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95325"/>
                <a:gridCol w="1576705"/>
                <a:gridCol w="1055370"/>
                <a:gridCol w="2717800"/>
                <a:gridCol w="2262505"/>
                <a:gridCol w="1109345"/>
                <a:gridCol w="2448560"/>
              </a:tblGrid>
              <a:tr h="384175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buNone/>
                      </a:pPr>
                      <a:r>
                        <a:rPr lang="zh-CN" sz="1200" kern="0" spc="12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序号</a:t>
                      </a:r>
                      <a:endParaRPr lang="zh-CN" sz="1200" kern="0" spc="12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sz="1200" kern="0" spc="12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功能名称</a:t>
                      </a:r>
                      <a:endParaRPr lang="zh-CN" sz="1200" kern="0" spc="12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sz="1200" kern="0" spc="12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通信方式</a:t>
                      </a:r>
                      <a:endParaRPr lang="zh-CN" sz="1200" kern="0" spc="12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sz="1200" kern="0" spc="12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话题名</a:t>
                      </a:r>
                      <a:r>
                        <a:rPr lang="en-US" altLang="zh-CN" sz="1200" kern="0" spc="12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/</a:t>
                      </a:r>
                      <a:r>
                        <a:rPr lang="zh-CN" altLang="en-US" sz="1200" kern="0" spc="12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服务名</a:t>
                      </a:r>
                      <a:endParaRPr lang="zh-CN" altLang="en-US" sz="1200" kern="0" spc="12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sz="1200" kern="0" spc="12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消息类型</a:t>
                      </a:r>
                      <a:endParaRPr lang="zh-CN" sz="1200" kern="0" spc="12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sz="1200" kern="0" spc="12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方向</a:t>
                      </a:r>
                      <a:endParaRPr lang="zh-CN" sz="1200" kern="0" spc="12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sz="1200" kern="0" spc="12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说明</a:t>
                      </a:r>
                      <a:endParaRPr lang="zh-CN" sz="1200" kern="0" spc="12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</a:tr>
              <a:tr h="60325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10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1</a:t>
                      </a:r>
                      <a:endParaRPr lang="en-US" sz="10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开始建图</a:t>
                      </a:r>
                      <a:endParaRPr lang="zh-CN" sz="14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6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Service</a:t>
                      </a:r>
                      <a:endParaRPr lang="zh-CN" sz="16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/slam/start_mapping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qizhi_msgs/StartMapping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请求/响应</a:t>
                      </a:r>
                      <a:endParaRPr lang="zh-CN" sz="12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启动SLAM建图节点，清空暂存地图</a:t>
                      </a:r>
                      <a:endParaRPr lang="zh-CN" sz="12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10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2</a:t>
                      </a:r>
                      <a:endParaRPr lang="en-US" sz="10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结束建图</a:t>
                      </a:r>
                      <a:endParaRPr lang="zh-CN" sz="14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6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Service</a:t>
                      </a:r>
                      <a:endParaRPr lang="zh-CN" sz="16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/slam/stop_mapping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qizhi_msgs/StopMapping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请求/响应</a:t>
                      </a:r>
                      <a:endParaRPr lang="zh-CN" sz="12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停止建图并保存地图文件</a:t>
                      </a:r>
                      <a:endParaRPr lang="zh-CN" sz="12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10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3</a:t>
                      </a:r>
                      <a:endParaRPr lang="en-US" sz="10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暂停建图</a:t>
                      </a:r>
                      <a:endParaRPr lang="zh-CN" sz="14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6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Service</a:t>
                      </a:r>
                      <a:endParaRPr lang="zh-CN" sz="16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/slam/pause_mapping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std_srvs/Trigger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请求/响应</a:t>
                      </a:r>
                      <a:endParaRPr lang="zh-CN" sz="12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暂停地图更新，机器人可移动</a:t>
                      </a:r>
                      <a:endParaRPr lang="zh-CN" sz="12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10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4</a:t>
                      </a:r>
                      <a:endParaRPr lang="en-US" sz="10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恢复建图</a:t>
                      </a:r>
                      <a:endParaRPr lang="zh-CN" sz="14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6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Service</a:t>
                      </a:r>
                      <a:endParaRPr lang="zh-CN" sz="16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/slam/resume_mapping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std_srvs/Trigger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请求/响应</a:t>
                      </a:r>
                      <a:endParaRPr lang="zh-CN" sz="12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恢复地图更新</a:t>
                      </a:r>
                      <a:endParaRPr lang="zh-CN" sz="12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10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5</a:t>
                      </a:r>
                      <a:endParaRPr lang="en-US" sz="10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获取实时地图</a:t>
                      </a:r>
                      <a:endParaRPr lang="zh-CN" sz="14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6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Topic</a:t>
                      </a:r>
                      <a:endParaRPr lang="zh-CN" sz="16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/map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nav_msgs/OccupancyGrid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订阅</a:t>
                      </a:r>
                      <a:endParaRPr lang="zh-CN" sz="12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5Hz，接收实时构建的地图数据</a:t>
                      </a:r>
                      <a:endParaRPr lang="zh-CN" sz="12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10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6</a:t>
                      </a:r>
                      <a:endParaRPr lang="en-US" sz="10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手柄控制移动</a:t>
                      </a:r>
                      <a:endParaRPr lang="zh-CN" sz="14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6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Topic</a:t>
                      </a:r>
                      <a:endParaRPr lang="zh-CN" sz="16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/cmd_vel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geometry_msgs/Twist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发布</a:t>
                      </a:r>
                      <a:endParaRPr lang="zh-CN" sz="12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发布线速度/角速度控制机器人</a:t>
                      </a:r>
                      <a:endParaRPr lang="zh-CN" sz="12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</a:tr>
              <a:tr h="60325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10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7</a:t>
                      </a:r>
                      <a:endParaRPr lang="en-US" sz="10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键盘控制移动</a:t>
                      </a:r>
                      <a:endParaRPr lang="zh-CN" sz="14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6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Topic</a:t>
                      </a:r>
                      <a:endParaRPr lang="zh-CN" sz="16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/cmd_vel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geometry_msgs/Twist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发布</a:t>
                      </a:r>
                      <a:endParaRPr lang="zh-CN" sz="12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通过键盘按键转换后发布速度指令</a:t>
                      </a:r>
                      <a:endParaRPr lang="zh-CN" sz="12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</a:tr>
              <a:tr h="67691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10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8</a:t>
                      </a:r>
                      <a:endParaRPr lang="en-US" sz="10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保存区域配置</a:t>
                      </a:r>
                      <a:endParaRPr lang="zh-CN" sz="14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6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Service</a:t>
                      </a:r>
                      <a:endParaRPr lang="zh-CN" sz="16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/map_manager/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save_area_config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qizhi_msgs/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SaveAreaConfig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请求/响应</a:t>
                      </a:r>
                      <a:endParaRPr lang="zh-CN" sz="12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保存A/B/C区对角点坐标</a:t>
                      </a:r>
                      <a:endParaRPr lang="zh-CN" sz="12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10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9</a:t>
                      </a:r>
                      <a:endParaRPr lang="en-US" sz="10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校验区域配置</a:t>
                      </a:r>
                      <a:endParaRPr lang="zh-CN" sz="14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6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Service</a:t>
                      </a:r>
                      <a:endParaRPr lang="zh-CN" sz="16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/map_manager/validate_areas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qizhi_msgs/ValidateAreas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请求/响应</a:t>
                      </a:r>
                      <a:endParaRPr lang="zh-CN" sz="12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检查区域是否越界/重叠/缺失</a:t>
                      </a:r>
                      <a:endParaRPr lang="zh-CN" sz="12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</a:tr>
              <a:tr h="67691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10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10</a:t>
                      </a:r>
                      <a:endParaRPr lang="en-US" sz="10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获取建图进度</a:t>
                      </a:r>
                      <a:endParaRPr lang="zh-CN" sz="14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6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Service</a:t>
                      </a:r>
                      <a:endParaRPr lang="zh-CN" sz="16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/slam/get_mapping_progress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qizhi_msgs/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400" kern="0">
                          <a:effectLst/>
                          <a:latin typeface="Times New Roman" panose="02020603050405020304" pitchFamily="18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GetMappingProgress</a:t>
                      </a:r>
                      <a:endParaRPr lang="zh-CN" sz="1400" kern="0"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请求/响应</a:t>
                      </a:r>
                      <a:endParaRPr lang="zh-CN" sz="12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sz="1200" kern="0">
                          <a:effectLst/>
                          <a:latin typeface="等线" panose="02010600030101010101" charset="-122"/>
                          <a:ea typeface="Arial" panose="020B0604020202020204" pitchFamily="34" charset="0"/>
                        </a:rPr>
                        <a:t>返回当前扫描覆盖率百分比</a:t>
                      </a:r>
                      <a:endParaRPr lang="zh-CN" sz="1200" kern="0">
                        <a:effectLst/>
                        <a:latin typeface="等线" panose="02010600030101010101" charset="-122"/>
                        <a:ea typeface="Arial" panose="020B0604020202020204" pitchFamily="34" charset="0"/>
                      </a:endParaRPr>
                    </a:p>
                  </a:txBody>
                  <a:tcPr marL="177800" marR="177800" marT="82550" marB="8255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/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sz="5400" b="1" dirty="0">
              <a:solidFill>
                <a:srgbClr val="0E60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详细设计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手动建图功能模块</a:t>
            </a:r>
            <a:endParaRPr lang="zh-CN" altLang="zh-CN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885" y="905510"/>
            <a:ext cx="4455160" cy="5612765"/>
          </a:xfrm>
          <a:prstGeom prst="rect">
            <a:avLst/>
          </a:prstGeom>
        </p:spPr>
      </p:pic>
      <p:sp>
        <p:nvSpPr>
          <p:cNvPr id="16" name="矩形: 圆角 2"/>
          <p:cNvSpPr/>
          <p:nvPr/>
        </p:nvSpPr>
        <p:spPr bwMode="auto">
          <a:xfrm>
            <a:off x="7903428" y="1033416"/>
            <a:ext cx="2088219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详细实现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077849" y="1710097"/>
            <a:ext cx="5739829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用户首先在前端选择手动建图模式，系统进入建图流程。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建图过程中，用户通过手柄或键盘控制机器人在作业空间内移动。系统持续接收建图过程中的环境信息，并在前端实时显示当前地图结果。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用户确认建图完成后，系统停止建图流程，并返回当前地图结果。此时地图本体已经生成。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用户在地图上标注</a:t>
            </a:r>
            <a:r>
              <a:rPr kumimoji="1"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A</a:t>
            </a: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B</a:t>
            </a: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 </a:t>
            </a: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三个区域。系统保存地图和区域配置后，手动建图流程结束，后续的货物识别、导航和码垛任务都以该地图与区域配置为基础。</a:t>
            </a:r>
            <a:endParaRPr kumimoji="1" lang="zh-CN" altLang="en-US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3535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信息展示与等待服务模块</a:t>
            </a:r>
            <a:endParaRPr lang="zh-CN" altLang="zh-CN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615" y="878840"/>
            <a:ext cx="5298440" cy="5964555"/>
          </a:xfrm>
          <a:prstGeom prst="rect">
            <a:avLst/>
          </a:prstGeom>
        </p:spPr>
      </p:pic>
      <p:sp>
        <p:nvSpPr>
          <p:cNvPr id="16" name="矩形: 圆角 2"/>
          <p:cNvSpPr/>
          <p:nvPr/>
        </p:nvSpPr>
        <p:spPr bwMode="auto">
          <a:xfrm>
            <a:off x="7951053" y="1034051"/>
            <a:ext cx="2088219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详细实现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95415" y="1649730"/>
            <a:ext cx="4998720" cy="4794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系统启动后直接进入等待服务，获取当前地图状态和区域配置信息，并在前端展示机器人状态、地图状态和可用功能。所有的功能模式都由等待模式进入，等待模式下可以修改机器人静态配置。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用户可以选择设置起始点，系统会先判断位置的合法性，然后再进入机器人初始位姿的</a:t>
            </a: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设置。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用户可以进行地图</a:t>
            </a: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管理，系统会执行地图查看、加载或删除操作，并将处理结果反馈到前端。</a:t>
            </a:r>
            <a:endParaRPr kumimoji="1" lang="zh-CN" altLang="en-US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kumimoji="1" lang="zh-CN" altLang="en-US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2316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导航与避障模块</a:t>
            </a:r>
            <a:endParaRPr lang="zh-CN" altLang="zh-CN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315" y="1283970"/>
            <a:ext cx="5343525" cy="4289425"/>
          </a:xfrm>
          <a:prstGeom prst="rect">
            <a:avLst/>
          </a:prstGeom>
        </p:spPr>
      </p:pic>
      <p:sp>
        <p:nvSpPr>
          <p:cNvPr id="16" name="矩形: 圆角 2"/>
          <p:cNvSpPr/>
          <p:nvPr/>
        </p:nvSpPr>
        <p:spPr bwMode="auto">
          <a:xfrm>
            <a:off x="7953593" y="1034051"/>
            <a:ext cx="2088219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详细实现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515100" y="1710055"/>
            <a:ext cx="4965700" cy="4333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系统收到目标位置后，先获取当前地图与区域信息，为路径规划提供依据。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导航模块根据目标点和地图信息执行导航。在执行过程中，它持续接收自身位姿和环境变化信息，用于判断是否需要调整路径。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当环境中存在障碍物或路径变化时，导航模块内部完成避障和路径调整。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机器人到达目标点后，导航模块返回导航完成结果，前端显示导航成功。该流程可被货物识别、码垛执行和临时调试复用。</a:t>
            </a:r>
            <a:endParaRPr kumimoji="1" lang="zh-CN" altLang="en-US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货物识别模块</a:t>
            </a:r>
            <a:endParaRPr lang="zh-CN" altLang="zh-CN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975" y="1211580"/>
            <a:ext cx="6171565" cy="5081905"/>
          </a:xfrm>
          <a:prstGeom prst="rect">
            <a:avLst/>
          </a:prstGeom>
        </p:spPr>
      </p:pic>
      <p:sp>
        <p:nvSpPr>
          <p:cNvPr id="16" name="矩形: 圆角 2"/>
          <p:cNvSpPr/>
          <p:nvPr/>
        </p:nvSpPr>
        <p:spPr bwMode="auto">
          <a:xfrm>
            <a:off x="8429208" y="1033416"/>
            <a:ext cx="2088219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详细实现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129145" y="1710055"/>
            <a:ext cx="4688205" cy="4688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用户在前端选择货物识别功能，并指定需要识别的区域。系统根据识别区域安排机器人到达合适的识别位置。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到达识别位置后，系统调用货物识别功能，对区域内货物进行识别，得到货物类别、位置、尺寸和体积等信息。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识别结果返回前端后，用户进行确认。确认后的结果作为后续批量任务创建、码垛决策和拿取放置的输入数据。</a:t>
            </a:r>
            <a:endParaRPr kumimoji="1" lang="zh-CN" altLang="en-US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4602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批量任务管理模块-批量任务创建</a:t>
            </a:r>
            <a:endParaRPr lang="zh-CN" altLang="en-US" b="1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355" y="1696720"/>
            <a:ext cx="5565140" cy="3707130"/>
          </a:xfrm>
          <a:prstGeom prst="rect">
            <a:avLst/>
          </a:prstGeom>
        </p:spPr>
      </p:pic>
      <p:sp>
        <p:nvSpPr>
          <p:cNvPr id="16" name="矩形: 圆角 2"/>
          <p:cNvSpPr/>
          <p:nvPr/>
        </p:nvSpPr>
        <p:spPr bwMode="auto">
          <a:xfrm>
            <a:off x="8085038" y="1033416"/>
            <a:ext cx="2088219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详细实现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615430" y="1710055"/>
            <a:ext cx="5026660" cy="46882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用户进入批量码垛任务创建界面，输入任务参数，例如任务名称、货物类型、目标数量或码垛方式等。</a:t>
            </a:r>
            <a:endParaRPr kumimoji="1" lang="zh-CN" altLang="en-US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系统接收任务创建请求后，检查任务创建条件，例如任务参数是否完整、是否存在可用货物信息、地图与区域配置是否有效。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前置条件满足后，任务管理模块创建批量任务，并生成初始任务队列。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任务创建完成后，前端显示任务编号、初始任务队列和基本统计信息，用户可以继续进入任务队列管理或后续码垛决策流程。</a:t>
            </a:r>
            <a:endParaRPr kumimoji="1" lang="zh-CN" altLang="en-US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4602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批量任务管理模块-任务队列管理</a:t>
            </a:r>
            <a:endParaRPr lang="zh-CN" altLang="en-US" b="1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" y="1033145"/>
            <a:ext cx="4538980" cy="5467985"/>
          </a:xfrm>
          <a:prstGeom prst="rect">
            <a:avLst/>
          </a:prstGeom>
        </p:spPr>
      </p:pic>
      <p:sp>
        <p:nvSpPr>
          <p:cNvPr id="16" name="矩形: 圆角 2"/>
          <p:cNvSpPr/>
          <p:nvPr/>
        </p:nvSpPr>
        <p:spPr bwMode="auto">
          <a:xfrm>
            <a:off x="7899618" y="1034051"/>
            <a:ext cx="2088219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详细实现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758305" y="1710055"/>
            <a:ext cx="4371340" cy="3960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用户进入任务队列管理界面后，系统查询当前批量任务下的任务队列，并在前端展示任务列表。</a:t>
            </a:r>
            <a:endParaRPr kumimoji="1" lang="zh-CN" altLang="en-US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用户</a:t>
            </a: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可以选择尾插新任务，系统将新任务追加到队列末尾，并刷新任务列表。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用户</a:t>
            </a: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可以选择删除任务，系统从队列中移除指定任务，并刷新任务列表。</a:t>
            </a:r>
            <a:endParaRPr kumimoji="1" lang="zh-CN" altLang="en-US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3992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码垛决策模块-分格码垛决策</a:t>
            </a:r>
            <a:endParaRPr lang="zh-CN" altLang="en-US" b="1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90" y="1276350"/>
            <a:ext cx="5969635" cy="4516755"/>
          </a:xfrm>
          <a:prstGeom prst="rect">
            <a:avLst/>
          </a:prstGeom>
        </p:spPr>
      </p:pic>
      <p:sp>
        <p:nvSpPr>
          <p:cNvPr id="16" name="矩形: 圆角 2"/>
          <p:cNvSpPr/>
          <p:nvPr/>
        </p:nvSpPr>
        <p:spPr bwMode="auto">
          <a:xfrm>
            <a:off x="8257123" y="1034051"/>
            <a:ext cx="2088219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详细实现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784975" y="1710055"/>
            <a:ext cx="5032375" cy="4229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用户启动分格码垛任务后，系统先获取当前任务、货物信息和目标区域状态。分格码垛要求货物尺寸较统一，因此重点关注区域中还剩哪些固定格位可用。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码垛规划功能根据任务上下文生成分格放置方案，包括目标区域、分格位置和放置姿态。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系统将生成的放置方案绑定到当前任务，并将规划结果反馈给前端。后续拿取与放置流程只需要按照该放置方案执行。</a:t>
            </a:r>
            <a:endParaRPr kumimoji="1" lang="zh-CN" altLang="en-US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4602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码垛决策模块-候选点法码垛决策</a:t>
            </a:r>
            <a:endParaRPr lang="zh-CN" altLang="en-US" sz="24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975" y="1401445"/>
            <a:ext cx="5944870" cy="4437380"/>
          </a:xfrm>
          <a:prstGeom prst="rect">
            <a:avLst/>
          </a:prstGeom>
        </p:spPr>
      </p:pic>
      <p:sp>
        <p:nvSpPr>
          <p:cNvPr id="16" name="矩形: 圆角 2"/>
          <p:cNvSpPr/>
          <p:nvPr/>
        </p:nvSpPr>
        <p:spPr bwMode="auto">
          <a:xfrm>
            <a:off x="8333323" y="1033416"/>
            <a:ext cx="2088219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详细实现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938010" y="1683385"/>
            <a:ext cx="4879340" cy="5519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用户启动候选点法任务后，系统获取当前任务、货物尺寸和码垛区已有占用状态。候选点法主要用于货物大小不统一的情况，因此需要重点关注当前码垛区的实际空间状态。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码垛规划功能根据已有货物边界和区域剩余空间生成候选放置点。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系统从可用候选点中选择最优放置点，并给出放置方向和放置姿态。该结果表示当前货物在目标区域中的具体码放位置。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系统将候选点法的规划结果绑定到任务，并反馈给前端。后续拿取与放置模块按照该结果执行放置动作。</a:t>
            </a:r>
            <a:endParaRPr kumimoji="1" lang="zh-CN" altLang="en-US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4297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货物拿取与放置模块-货物拿取</a:t>
            </a:r>
            <a:endParaRPr lang="zh-CN" altLang="en-US" b="1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1355090"/>
            <a:ext cx="6047740" cy="4147820"/>
          </a:xfrm>
          <a:prstGeom prst="rect">
            <a:avLst/>
          </a:prstGeom>
        </p:spPr>
      </p:pic>
      <p:sp>
        <p:nvSpPr>
          <p:cNvPr id="16" name="矩形: 圆角 2"/>
          <p:cNvSpPr/>
          <p:nvPr/>
        </p:nvSpPr>
        <p:spPr bwMode="auto">
          <a:xfrm>
            <a:off x="8361898" y="1034051"/>
            <a:ext cx="2088219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详细实现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994525" y="1710055"/>
            <a:ext cx="4822825" cy="40290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系统首先获取当前需要处理的任务和货物信息，明确本次需要拿取哪个货物。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在正式拿取前，系统再次确认目标货物的最新位置，避免货物发生偏移或识别结果过期。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货物拿取与放置模块</a:t>
            </a: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控制机械臂与夹爪完成具体拿取动作。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拿取完成后，系统更新当前任务阶段，并在前端显示拿取完成结果。</a:t>
            </a:r>
            <a:endParaRPr kumimoji="1" lang="zh-CN" altLang="en-US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4297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货物拿取与放置模块-货物放置</a:t>
            </a:r>
            <a:endParaRPr lang="zh-CN" altLang="en-US" b="1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910" y="1348740"/>
            <a:ext cx="5967095" cy="4161155"/>
          </a:xfrm>
          <a:prstGeom prst="rect">
            <a:avLst/>
          </a:prstGeom>
        </p:spPr>
      </p:pic>
      <p:sp>
        <p:nvSpPr>
          <p:cNvPr id="16" name="矩形: 圆角 2"/>
          <p:cNvSpPr/>
          <p:nvPr/>
        </p:nvSpPr>
        <p:spPr bwMode="auto">
          <a:xfrm>
            <a:off x="8273633" y="1034051"/>
            <a:ext cx="2088219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详细实现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817360" y="1710055"/>
            <a:ext cx="4999990" cy="3830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系统首先获取当前放置任务和目标码垛信息，明确当前货物应放置到哪个码垛位置。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货物拿取与放置模块向码垛规划功能获取放置位姿，包括放置点、放置高度和放置方向。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货物拿取与放置模块控制机械臂与夹爪</a:t>
            </a: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完成放置动作，包括移动到放置位置、释放货物和复位。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放置完成后，系统更新任务阶段，并在前端显示放置完成结果。</a:t>
            </a:r>
            <a:endParaRPr kumimoji="1" lang="zh-CN" altLang="en-US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zh-CN" altLang="en-US" sz="24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</a:rPr>
              <a:t>临时调试模块</a:t>
            </a:r>
            <a:endParaRPr lang="zh-CN" altLang="zh-CN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870" y="885190"/>
            <a:ext cx="5249545" cy="5325745"/>
          </a:xfrm>
          <a:prstGeom prst="rect">
            <a:avLst/>
          </a:prstGeom>
        </p:spPr>
      </p:pic>
      <p:sp>
        <p:nvSpPr>
          <p:cNvPr id="16" name="矩形: 圆角 2"/>
          <p:cNvSpPr/>
          <p:nvPr/>
        </p:nvSpPr>
        <p:spPr bwMode="auto">
          <a:xfrm>
            <a:off x="8015188" y="1033416"/>
            <a:ext cx="2088219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详细实现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529705" y="1710055"/>
            <a:ext cx="5058410" cy="3919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用户点击临时调试后，前端先请求用户确认。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用户确认后，系统获取当前任务阶段，判断机器人当前处于移动、拿取、放置或其他状态。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如果当前正在移动，系统调用导航功能完成安全停止；如果正在拿取或放置，系统调用机械臂模块完成最小安全动作。</a:t>
            </a:r>
            <a:endParaRPr kumimoji="1" lang="en-US" altLang="zh-CN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1"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当前动作安全结束后，系统将任务标记为中断状态，并在前端提示任务已中断。</a:t>
            </a:r>
            <a:endParaRPr kumimoji="1" lang="zh-CN" altLang="en-US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/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en-US" altLang="zh-CN" sz="5400" b="1" dirty="0">
              <a:solidFill>
                <a:srgbClr val="0E60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运行与开发环境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运行环境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软硬件环境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8907" y="2497176"/>
            <a:ext cx="3187910" cy="3751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摄像头或深度相机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启智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ROS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机器人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主体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启智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ROS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机器人配套机械臂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和夹爪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实验场地中的货物、工作台和目标区域标识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网络连接与供电设备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81982" y="2419521"/>
            <a:ext cx="6093994" cy="2527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Ubuntu 20.04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ROS Noetic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启智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ROS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机器人相关基础包和驱动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Gazebo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仿真环境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可视化平台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Rviz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: 圆角 8"/>
          <p:cNvSpPr/>
          <p:nvPr/>
        </p:nvSpPr>
        <p:spPr bwMode="auto">
          <a:xfrm>
            <a:off x="2620682" y="1723832"/>
            <a:ext cx="1736950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硬件环境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: 圆角 9"/>
          <p:cNvSpPr/>
          <p:nvPr/>
        </p:nvSpPr>
        <p:spPr bwMode="auto">
          <a:xfrm>
            <a:off x="7752775" y="1723832"/>
            <a:ext cx="1736950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软件环境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65170" y="2419521"/>
            <a:ext cx="3647975" cy="3471915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529582" y="2408291"/>
            <a:ext cx="4183336" cy="2664223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开发环境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" y="70479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软硬件环境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95264" y="2042436"/>
            <a:ext cx="3187910" cy="2271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个人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PC 5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台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机器人平台及配套实验设备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调试所需连接线、支架、标记板等辅助设备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08339" y="1964781"/>
            <a:ext cx="6093994" cy="4084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Ubuntu 20.04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ROS 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开发环境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Visual Studio Code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集成开发环境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Gazebo</a:t>
            </a:r>
            <a:r>
              <a:rPr kumimoji="0" lang="zh-CN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仿真环境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可视化平台 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Rviz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Python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</a:t>
            </a: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C++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编译运行环境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Git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代码管理工具</a:t>
            </a:r>
            <a:endParaRPr kumimoji="0" lang="en-US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en-US" altLang="zh-CN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GitLab </a:t>
            </a:r>
            <a:r>
              <a:rPr kumimoji="0" lang="zh-CN" alt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项目管理平台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: 圆角 8"/>
          <p:cNvSpPr/>
          <p:nvPr/>
        </p:nvSpPr>
        <p:spPr bwMode="auto">
          <a:xfrm>
            <a:off x="2547039" y="1269092"/>
            <a:ext cx="1736950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硬件环境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矩形: 圆角 9"/>
          <p:cNvSpPr/>
          <p:nvPr/>
        </p:nvSpPr>
        <p:spPr bwMode="auto">
          <a:xfrm>
            <a:off x="7679132" y="1269092"/>
            <a:ext cx="1736950" cy="489677"/>
          </a:xfrm>
          <a:prstGeom prst="roundRect">
            <a:avLst/>
          </a:prstGeom>
          <a:solidFill>
            <a:srgbClr val="4472C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软件环境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91527" y="1964781"/>
            <a:ext cx="3647975" cy="2447051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455939" y="1953551"/>
            <a:ext cx="4183336" cy="4171088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5"/>
          <p:cNvSpPr/>
          <p:nvPr/>
        </p:nvSpPr>
        <p:spPr>
          <a:xfrm>
            <a:off x="3174693" y="2525052"/>
            <a:ext cx="8729879" cy="2141291"/>
          </a:xfrm>
          <a:prstGeom prst="parallelogram">
            <a:avLst/>
          </a:prstGeom>
          <a:solidFill>
            <a:schemeClr val="accent1">
              <a:lumMod val="40000"/>
              <a:lumOff val="6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平行四边形 6"/>
          <p:cNvSpPr/>
          <p:nvPr/>
        </p:nvSpPr>
        <p:spPr>
          <a:xfrm>
            <a:off x="3638870" y="2596755"/>
            <a:ext cx="7371638" cy="1808138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" name="平行四边形 7"/>
          <p:cNvSpPr/>
          <p:nvPr/>
        </p:nvSpPr>
        <p:spPr>
          <a:xfrm>
            <a:off x="1389922" y="2142677"/>
            <a:ext cx="2590046" cy="1530482"/>
          </a:xfrm>
          <a:prstGeom prst="parallelogram">
            <a:avLst/>
          </a:prstGeom>
          <a:solidFill>
            <a:srgbClr val="0E60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721413" y="2568547"/>
            <a:ext cx="1530481" cy="153048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225176" y="2884070"/>
            <a:ext cx="986880" cy="89916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5400" b="1" dirty="0">
                <a:solidFill>
                  <a:srgbClr val="0E60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en-US" altLang="zh-CN" sz="5400" b="1" dirty="0">
              <a:solidFill>
                <a:srgbClr val="0E60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33035" y="2988356"/>
            <a:ext cx="5184576" cy="68480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GitLab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项目管理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833035" y="3783230"/>
            <a:ext cx="477287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分支管理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518" y="699962"/>
            <a:ext cx="8644847" cy="536883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722880" y="699962"/>
            <a:ext cx="333860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目前共有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个分支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Main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: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主分支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Feature: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功能开发分支，可以有多个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Debug: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bug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修复分支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,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修复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main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分支中的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bug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Develop: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开发测试汇总分支，包含所有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已完成但还未合并到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main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的代码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未来设立关键版本分支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27108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issues——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任务分配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67081" y="1415649"/>
            <a:ext cx="695121" cy="695121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b="44275"/>
          <a:stretch>
            <a:fillRect/>
          </a:stretch>
        </p:blipFill>
        <p:spPr>
          <a:xfrm>
            <a:off x="2293991" y="820409"/>
            <a:ext cx="7604018" cy="42336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403125" y="5206594"/>
            <a:ext cx="53857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命名方式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MileStone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: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任务内容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3383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IssueBoard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进度控制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67081" y="1415649"/>
            <a:ext cx="695121" cy="695121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813" y="699962"/>
            <a:ext cx="8080373" cy="486601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提交规范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58620" y="756285"/>
            <a:ext cx="9835515" cy="59766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71448" y="1582346"/>
            <a:ext cx="754256" cy="75425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合并规范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20925" y="756285"/>
            <a:ext cx="8851900" cy="57543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71448" y="1582346"/>
            <a:ext cx="754256" cy="75425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rot="16200000">
            <a:off x="178614" y="657860"/>
            <a:ext cx="666507" cy="84204"/>
          </a:xfrm>
          <a:prstGeom prst="rect">
            <a:avLst/>
          </a:prstGeom>
          <a:ln>
            <a:solidFill>
              <a:srgbClr val="0E60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295759"/>
            <a:ext cx="2151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CI/CD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t>与流水线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" y="757424"/>
            <a:ext cx="5476444" cy="516211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075" y="603709"/>
            <a:ext cx="6582694" cy="594443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4605" y="0"/>
            <a:ext cx="12205970" cy="6858000"/>
          </a:xfrm>
          <a:prstGeom prst="rect">
            <a:avLst/>
          </a:prstGeom>
          <a:gradFill>
            <a:gsLst>
              <a:gs pos="0">
                <a:srgbClr val="0E60A8">
                  <a:alpha val="36000"/>
                </a:srgbClr>
              </a:gs>
              <a:gs pos="86000">
                <a:srgbClr val="0E60A8">
                  <a:alpha val="9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平行四边形 16"/>
          <p:cNvSpPr/>
          <p:nvPr/>
        </p:nvSpPr>
        <p:spPr>
          <a:xfrm>
            <a:off x="1629221" y="2614921"/>
            <a:ext cx="8729879" cy="2141291"/>
          </a:xfrm>
          <a:prstGeom prst="parallelogram">
            <a:avLst/>
          </a:prstGeom>
          <a:solidFill>
            <a:schemeClr val="bg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041169" y="3052561"/>
            <a:ext cx="4524346" cy="110799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谢！</a:t>
            </a:r>
            <a:endParaRPr lang="en-US" altLang="zh-CN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平行四边形 18"/>
          <p:cNvSpPr/>
          <p:nvPr/>
        </p:nvSpPr>
        <p:spPr>
          <a:xfrm>
            <a:off x="8571865" y="4060825"/>
            <a:ext cx="1913890" cy="885825"/>
          </a:xfrm>
          <a:prstGeom prst="parallelogram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 cstate="email">
            <a:duotone>
              <a:prstClr val="black"/>
              <a:srgbClr val="3BFB7B">
                <a:tint val="45000"/>
                <a:satMod val="400000"/>
              </a:srgbClr>
            </a:duotone>
            <a:grayscl/>
          </a:blip>
          <a:srcRect b="49558"/>
          <a:stretch>
            <a:fillRect/>
          </a:stretch>
        </p:blipFill>
        <p:spPr>
          <a:xfrm>
            <a:off x="3019441" y="482148"/>
            <a:ext cx="6018748" cy="2510987"/>
          </a:xfrm>
          <a:prstGeom prst="rect">
            <a:avLst/>
          </a:prstGeom>
          <a:noFill/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2" cstate="email">
            <a:duotone>
              <a:prstClr val="black"/>
              <a:srgbClr val="3BFB7B">
                <a:tint val="45000"/>
                <a:satMod val="400000"/>
              </a:srgbClr>
            </a:duotone>
            <a:grayscl/>
          </a:blip>
          <a:srcRect t="72787"/>
          <a:stretch>
            <a:fillRect/>
          </a:stretch>
        </p:blipFill>
        <p:spPr>
          <a:xfrm>
            <a:off x="2984979" y="4060997"/>
            <a:ext cx="6018748" cy="1354655"/>
          </a:xfrm>
          <a:prstGeom prst="rect">
            <a:avLst/>
          </a:prstGeom>
        </p:spPr>
      </p:pic>
      <p:sp>
        <p:nvSpPr>
          <p:cNvPr id="23" name="平行四边形 22"/>
          <p:cNvSpPr/>
          <p:nvPr/>
        </p:nvSpPr>
        <p:spPr>
          <a:xfrm>
            <a:off x="1715770" y="2500630"/>
            <a:ext cx="1913890" cy="885825"/>
          </a:xfrm>
          <a:prstGeom prst="parallelogram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10.211968503937,&quot;left&quot;:148.30181102362207,&quot;top&quot;:116.61212598425197,&quot;width&quot;:646.3076377952757}"/>
</p:tagLst>
</file>

<file path=ppt/tags/tag2.xml><?xml version="1.0" encoding="utf-8"?>
<p:tagLst xmlns:p="http://schemas.openxmlformats.org/presentationml/2006/main">
  <p:tag name="KSO_WM_DIAGRAM_VIRTUALLY_FRAME" val="{&quot;height&quot;:310.211968503937,&quot;left&quot;:148.30181102362207,&quot;top&quot;:116.61212598425197,&quot;width&quot;:646.3076377952757}"/>
</p:tagLst>
</file>

<file path=ppt/tags/tag3.xml><?xml version="1.0" encoding="utf-8"?>
<p:tagLst xmlns:p="http://schemas.openxmlformats.org/presentationml/2006/main">
  <p:tag name="KSO_WM_DIAGRAM_VIRTUALLY_FRAME" val="{&quot;height&quot;:310.211968503937,&quot;left&quot;:148.30181102362207,&quot;top&quot;:116.61212598425197,&quot;width&quot;:646.3076377952757}"/>
</p:tagLst>
</file>

<file path=ppt/tags/tag4.xml><?xml version="1.0" encoding="utf-8"?>
<p:tagLst xmlns:p="http://schemas.openxmlformats.org/presentationml/2006/main">
  <p:tag name="KSO_WM_DIAGRAM_VIRTUALLY_FRAME" val="{&quot;height&quot;:310.211968503937,&quot;left&quot;:148.30181102362207,&quot;top&quot;:116.61212598425197,&quot;width&quot;:646.3076377952757}"/>
</p:tagLst>
</file>

<file path=ppt/tags/tag5.xml><?xml version="1.0" encoding="utf-8"?>
<p:tagLst xmlns:p="http://schemas.openxmlformats.org/presentationml/2006/main">
  <p:tag name="KSO_WM_DIAGRAM_VIRTUALLY_FRAME" val="{&quot;height&quot;:310.211968503937,&quot;left&quot;:148.30181102362207,&quot;top&quot;:116.61212598425197,&quot;width&quot;:646.3076377952757}"/>
</p:tagLst>
</file>

<file path=ppt/tags/tag6.xml><?xml version="1.0" encoding="utf-8"?>
<p:tagLst xmlns:p="http://schemas.openxmlformats.org/presentationml/2006/main">
  <p:tag name="KSO_WM_DIAGRAM_VIRTUALLY_FRAME" val="{&quot;height&quot;:310.211968503937,&quot;left&quot;:148.30181102362207,&quot;top&quot;:116.61212598425197,&quot;width&quot;:646.3076377952757}"/>
</p:tagLst>
</file>

<file path=ppt/tags/tag7.xml><?xml version="1.0" encoding="utf-8"?>
<p:tagLst xmlns:p="http://schemas.openxmlformats.org/presentationml/2006/main">
  <p:tag name="KSO_WM_DIAGRAM_VIRTUALLY_FRAME" val="{&quot;height&quot;:310.211968503937,&quot;left&quot;:148.30181102362207,&quot;top&quot;:116.61212598425197,&quot;width&quot;:646.3076377952757}"/>
</p:tagLst>
</file>

<file path=ppt/tags/tag8.xml><?xml version="1.0" encoding="utf-8"?>
<p:tagLst xmlns:p="http://schemas.openxmlformats.org/presentationml/2006/main">
  <p:tag name="KSO_WM_DIAGRAM_VIRTUALLY_FRAME" val="{&quot;height&quot;:310.211968503937,&quot;left&quot;:148.30181102362207,&quot;top&quot;:116.61212598425197,&quot;width&quot;:646.3076377952757}"/>
</p:tagLst>
</file>

<file path=ppt/tags/tag9.xml><?xml version="1.0" encoding="utf-8"?>
<p:tagLst xmlns:p="http://schemas.openxmlformats.org/presentationml/2006/main">
  <p:tag name="KSO_WM_DIAGRAM_VIRTUALLY_FRAME" val="{&quot;height&quot;:310.211968503937,&quot;left&quot;:148.30181102362207,&quot;top&quot;:116.61212598425197,&quot;width&quot;:646.3076377952757}"/>
</p:tagLst>
</file>

<file path=ppt/tags/tag10.xml><?xml version="1.0" encoding="utf-8"?>
<p:tagLst xmlns:p="http://schemas.openxmlformats.org/presentationml/2006/main">
  <p:tag name="KSO_WM_DIAGRAM_VIRTUALLY_FRAME" val="{&quot;height&quot;:304.07921259842516,&quot;left&quot;:67.65,&quot;top&quot;:160.42094488188977,&quot;width&quot;:398.7}"/>
</p:tagLst>
</file>

<file path=ppt/tags/tag11.xml><?xml version="1.0" encoding="utf-8"?>
<p:tagLst xmlns:p="http://schemas.openxmlformats.org/presentationml/2006/main">
  <p:tag name="KSO_WM_DIAGRAM_VIRTUALLY_FRAME" val="{&quot;height&quot;:304.07921259842516,&quot;left&quot;:67.65,&quot;top&quot;:160.42094488188977,&quot;width&quot;:398.7}"/>
</p:tagLst>
</file>

<file path=ppt/tags/tag12.xml><?xml version="1.0" encoding="utf-8"?>
<p:tagLst xmlns:p="http://schemas.openxmlformats.org/presentationml/2006/main">
  <p:tag name="KSO_WM_DIAGRAM_VIRTUALLY_FRAME" val="{&quot;height&quot;:304.07921259842516,&quot;left&quot;:67.65,&quot;top&quot;:160.42094488188977,&quot;width&quot;:398.7}"/>
</p:tagLst>
</file>

<file path=ppt/tags/tag13.xml><?xml version="1.0" encoding="utf-8"?>
<p:tagLst xmlns:p="http://schemas.openxmlformats.org/presentationml/2006/main">
  <p:tag name="KSO_WM_DIAGRAM_VIRTUALLY_FRAME" val="{&quot;height&quot;:304.07921259842516,&quot;left&quot;:67.65,&quot;top&quot;:160.42094488188977,&quot;width&quot;:398.7}"/>
</p:tagLst>
</file>

<file path=ppt/tags/tag14.xml><?xml version="1.0" encoding="utf-8"?>
<p:tagLst xmlns:p="http://schemas.openxmlformats.org/presentationml/2006/main">
  <p:tag name="KSO_WM_DIAGRAM_VIRTUALLY_FRAME" val="{&quot;height&quot;:304.07921259842516,&quot;left&quot;:67.65,&quot;top&quot;:160.42094488188977,&quot;width&quot;:398.7}"/>
</p:tagLst>
</file>

<file path=ppt/tags/tag15.xml><?xml version="1.0" encoding="utf-8"?>
<p:tagLst xmlns:p="http://schemas.openxmlformats.org/presentationml/2006/main">
  <p:tag name="KSO_WM_DIAGRAM_VIRTUALLY_FRAME" val="{&quot;height&quot;:304.07921259842516,&quot;left&quot;:67.65,&quot;top&quot;:160.42094488188977,&quot;width&quot;:398.7}"/>
</p:tagLst>
</file>

<file path=ppt/tags/tag16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17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18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19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20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21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22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23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24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25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26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27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28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29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30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31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32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33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34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35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36.xml><?xml version="1.0" encoding="utf-8"?>
<p:tagLst xmlns:p="http://schemas.openxmlformats.org/presentationml/2006/main">
  <p:tag name="KSO_WM_DIAGRAM_VIRTUALLY_FRAME" val="{&quot;height&quot;:407.00582677165346,&quot;left&quot;:103.73905511811024,&quot;top&quot;:113.0411811023622,&quot;width&quot;:682.0033070866141}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TABLE_ENDDRAG_ORIGIN_RECT" val="934*418"/>
  <p:tag name="TABLE_ENDDRAG_RECT" val="7*124*934*418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UNIT_PLACING_PICTURE_USER_VIEWPORT" val="{&quot;height&quot;:3954.3102362204722,&quot;width&quot;:9478.343307086614}"/>
</p:tagLst>
</file>

<file path=ppt/tags/tag47.xml><?xml version="1.0" encoding="utf-8"?>
<p:tagLst xmlns:p="http://schemas.openxmlformats.org/presentationml/2006/main">
  <p:tag name="KSO_WM_UNIT_PLACING_PICTURE_USER_VIEWPORT" val="{&quot;height&quot;:2133.314960629921,&quot;width&quot;:9478.34330708661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4079</Words>
  <Application>WPS 演示</Application>
  <PresentationFormat>宽屏</PresentationFormat>
  <Paragraphs>544</Paragraphs>
  <Slides>42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42</vt:i4>
      </vt:variant>
    </vt:vector>
  </HeadingPairs>
  <TitlesOfParts>
    <vt:vector size="58" baseType="lpstr">
      <vt:lpstr>Arial</vt:lpstr>
      <vt:lpstr>宋体</vt:lpstr>
      <vt:lpstr>Wingdings</vt:lpstr>
      <vt:lpstr>黑体</vt:lpstr>
      <vt:lpstr>微软雅黑</vt:lpstr>
      <vt:lpstr>Times New Roman</vt:lpstr>
      <vt:lpstr>Calibri</vt:lpstr>
      <vt:lpstr>等线</vt:lpstr>
      <vt:lpstr>Arial Unicode MS</vt:lpstr>
      <vt:lpstr>等线 Light</vt:lpstr>
      <vt:lpstr>Söhne</vt:lpstr>
      <vt:lpstr>Segoe Print</vt:lpstr>
      <vt:lpstr>华文中宋</vt:lpstr>
      <vt:lpstr>Office 主题​​</vt:lpstr>
      <vt:lpstr>WPS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Doxel _</dc:creator>
  <cp:lastModifiedBy>刘栖言</cp:lastModifiedBy>
  <cp:revision>423</cp:revision>
  <dcterms:created xsi:type="dcterms:W3CDTF">2023-05-17T11:48:00Z</dcterms:created>
  <dcterms:modified xsi:type="dcterms:W3CDTF">2026-04-27T23:59:00Z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18B3D37491EB4C9A85BA906AA38EA9C0_12</vt:lpwstr>
  </property>
</Properties>
</file>